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B820"/>
                </a:solidFill>
                <a:latin typeface="JetBrains Mono"/>
              </a:rPr>
              <a:t>PROPOSAL  /  FISCAL COMPLIANCE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2EDE4"/>
                </a:solidFill>
                <a:latin typeface="Space Grotesk"/>
              </a:rPr>
              <a:t>Compliance Reconciliation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E8B820"/>
                </a:solidFill>
                <a:latin typeface="Space Grotesk"/>
              </a:rPr>
              <a:t>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8A8898"/>
                </a:solidFill>
                <a:latin typeface="Inter"/>
              </a:rPr>
              <a:t>A full-stack build proposal for an automated compliance platform: </a:t>
            </a:r>
            <a:r>
              <a:rPr sz="1700" b="0">
                <a:solidFill>
                  <a:srgbClr val="F2EDE4"/>
                </a:solidFill>
                <a:latin typeface="Inter"/>
              </a:rPr>
              <a:t>memory-stable parsing of 500+ MB fiscal XML, a 170+ rule reconciliation engine, and multi-tenant analytical dashboards.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949440" cy="566928"/>
          </a:xfrm>
          <a:prstGeom prst="rect">
            <a:avLst/>
          </a:prstGeom>
          <a:solidFill>
            <a:srgbClr val="1E1C26"/>
          </a:solidFill>
          <a:ln w="15875">
            <a:solidFill>
              <a:srgbClr val="E8B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440680"/>
            <a:ext cx="6583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B820"/>
                </a:solidFill>
                <a:latin typeface="JetBrains Mono"/>
              </a:rPr>
              <a:t>LIVE DEMO   </a:t>
            </a:r>
            <a:r>
              <a:rPr sz="1250" b="0">
                <a:solidFill>
                  <a:srgbClr val="F2EDE4"/>
                </a:solidFill>
                <a:latin typeface="JetBrains Mono"/>
              </a:rPr>
              <a:t>michaelwegter.com/work-samples/full-stack-developer-python-fastapi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8898"/>
                </a:solidFill>
                <a:latin typeface="JetBrains Mono"/>
              </a:rPr>
              <a:t>Michael Wegter   /   michaelwegter.com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B820"/>
                </a:solidFill>
                <a:latin typeface="JetBrains Mono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2EDE4"/>
                </a:solidFill>
                <a:latin typeface="Space Grotesk"/>
              </a:rPr>
              <a:t>You have the spec. You need someone who can build the hard parts.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A8898"/>
                </a:solidFill>
                <a:latin typeface="Inter"/>
              </a:rPr>
              <a:t>The brief is mature: a finished spec, a field-level parsing reference, a design prototype, six milestones with written definitions of done. The risk is not discovery. It is execution on the two pieces that break naive implementations.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29000"/>
            <a:ext cx="3529584" cy="2651760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429000"/>
            <a:ext cx="3529584" cy="64008"/>
          </a:xfrm>
          <a:prstGeom prst="rect">
            <a:avLst/>
          </a:prstGeom>
          <a:solidFill>
            <a:srgbClr val="F01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2EDE4"/>
                </a:solidFill>
                <a:latin typeface="Space Grotesk"/>
              </a:rPr>
              <a:t>500+ MB fiscal 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3484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A full-accounting SAF-T file for a mid-size company runs 200 to 600 MB. Load the whole tree and the process dies. Memory has to stay flat across tens of thousands of repeating elements.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429000"/>
            <a:ext cx="3529584" cy="2651760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3429000"/>
            <a:ext cx="3529584" cy="64008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794760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2EDE4"/>
                </a:solidFill>
                <a:latin typeface="Space Grotesk"/>
              </a:rPr>
              <a:t>170+ reconciliation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43484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Debit/credit balances, control totals, VAT, invoice sequence, period boundaries, orphan references. Wrong results in a compliance product carry audit and regulatory weight. Testing is non-optional.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429000"/>
            <a:ext cx="3529584" cy="2651760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3429000"/>
            <a:ext cx="3529584" cy="64008"/>
          </a:xfrm>
          <a:prstGeom prst="rect">
            <a:avLst/>
          </a:prstGeom>
          <a:solidFill>
            <a:srgbClr val="12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794760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2EDE4"/>
                </a:solidFill>
                <a:latin typeface="Space Grotesk"/>
              </a:rPr>
              <a:t>Multi-tenant + the 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43484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Every client account fully isolated, enforced and proven at the API level. Fixed-price across 6 milestones means scope and the definition of done have to be tight up front.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B820"/>
                </a:solidFill>
                <a:latin typeface="JetBrains Mono"/>
              </a:rPr>
              <a:t>THE LIVE DEMO  /  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EDE4"/>
                </a:solidFill>
                <a:latin typeface="Space Grotesk"/>
              </a:rPr>
              <a:t>I built a working proof of the core. Click it.</a:t>
            </a:r>
          </a:p>
        </p:txBody>
      </p:sp>
      <p:pic>
        <p:nvPicPr>
          <p:cNvPr id="5" name="Picture 4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6858000" cy="42862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783080"/>
            <a:ext cx="6858000" cy="4286250"/>
          </a:xfrm>
          <a:prstGeom prst="rect">
            <a:avLst/>
          </a:prstGeom>
          <a:noFill/>
          <a:ln w="15875">
            <a:solidFill>
              <a:srgbClr val="E8B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874519"/>
            <a:ext cx="3383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EDE4"/>
                </a:solidFill>
                <a:latin typeface="Inter"/>
              </a:rPr>
              <a:t>Pick a SAF-T fixture and the console: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F2EDE4"/>
                </a:solidFill>
                <a:latin typeface="Inter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detects </a:t>
            </a:r>
            <a:r>
              <a:rPr sz="1300" b="0">
                <a:solidFill>
                  <a:srgbClr val="E8B820"/>
                </a:solidFill>
                <a:latin typeface="Inter"/>
              </a:rPr>
              <a:t>document type, period, schema version</a:t>
            </a:r>
            <a:r>
              <a:rPr sz="1300" b="0">
                <a:solidFill>
                  <a:srgbClr val="8A8898"/>
                </a:solidFill>
                <a:latin typeface="Inter"/>
              </a:rPr>
              <a:t> from the file header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F2EDE4"/>
                </a:solidFill>
                <a:latin typeface="Inter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runs a </a:t>
            </a:r>
            <a:r>
              <a:rPr sz="1300" b="0">
                <a:solidFill>
                  <a:srgbClr val="E8B820"/>
                </a:solidFill>
                <a:latin typeface="Inter"/>
              </a:rPr>
              <a:t>bounded-memory streaming parse</a:t>
            </a:r>
            <a:r>
              <a:rPr sz="1300" b="0">
                <a:solidFill>
                  <a:srgbClr val="8A8898"/>
                </a:solidFill>
                <a:latin typeface="Inter"/>
              </a:rPr>
              <a:t> with a live memory-stability chart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F2EDE4"/>
                </a:solidFill>
                <a:latin typeface="Inter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evaluates </a:t>
            </a:r>
            <a:r>
              <a:rPr sz="1300" b="0">
                <a:solidFill>
                  <a:srgbClr val="E8B820"/>
                </a:solidFill>
                <a:latin typeface="Inter"/>
              </a:rPr>
              <a:t>10 rules (R01-R10)</a:t>
            </a:r>
            <a:r>
              <a:rPr sz="1300" b="0">
                <a:solidFill>
                  <a:srgbClr val="8A8898"/>
                </a:solidFill>
                <a:latin typeface="Inter"/>
              </a:rPr>
              <a:t> with thresholds and drill-down to source transactions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F2EDE4"/>
                </a:solidFill>
                <a:latin typeface="Inter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paginates a </a:t>
            </a:r>
            <a:r>
              <a:rPr sz="1300" b="0">
                <a:solidFill>
                  <a:srgbClr val="E8B820"/>
                </a:solidFill>
                <a:latin typeface="Inter"/>
              </a:rPr>
              <a:t>100,000-row ledger</a:t>
            </a:r>
            <a:r>
              <a:rPr sz="1300" b="0">
                <a:solidFill>
                  <a:srgbClr val="8A8898"/>
                </a:solidFill>
                <a:latin typeface="Inter"/>
              </a:rPr>
              <a:t> the way a real API would, with CSV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5349240"/>
            <a:ext cx="3383280" cy="868680"/>
          </a:xfrm>
          <a:prstGeom prst="rect">
            <a:avLst/>
          </a:prstGeom>
          <a:solidFill>
            <a:srgbClr val="1E1C26"/>
          </a:solidFill>
          <a:ln w="15875">
            <a:solidFill>
              <a:srgbClr val="E8B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8" y="5349240"/>
            <a:ext cx="29809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B820"/>
                </a:solidFill>
                <a:latin typeface="JetBrains Mono"/>
              </a:rPr>
              <a:t>OPEN THE DEMO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F2EDE4"/>
                </a:solidFill>
                <a:latin typeface="JetBrains Mono"/>
              </a:rPr>
              <a:t>michaelwegter.com/work-samples/full-stack-developer-python-fastapi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B820"/>
                </a:solidFill>
                <a:latin typeface="JetBrains Mono"/>
              </a:rPr>
              <a:t>DEMO PROOF  /  THREE THINGS IT PROVES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2EDE4"/>
                </a:solidFill>
                <a:latin typeface="Space Grotesk"/>
              </a:rPr>
              <a:t>Detect and parse, reconcile, then analyze</a:t>
            </a:r>
          </a:p>
        </p:txBody>
      </p:sp>
      <p:pic>
        <p:nvPicPr>
          <p:cNvPr id="5" name="Picture 4" descr="step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3529584" cy="22059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828800"/>
            <a:ext cx="3529584" cy="2205990"/>
          </a:xfrm>
          <a:prstGeom prst="rect">
            <a:avLst/>
          </a:prstGeom>
          <a:noFill/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99382"/>
            <a:ext cx="3529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B820"/>
                </a:solidFill>
                <a:latin typeface="JetBrains Mono"/>
              </a:rPr>
              <a:t>01  STREAMING PARSE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01134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8898"/>
                </a:solidFill>
                <a:latin typeface="Inter"/>
              </a:rPr>
              <a:t>Bounded-memory iterparse vs naive full-DOM load, charted live as records climb.</a:t>
            </a:r>
          </a:p>
        </p:txBody>
      </p:sp>
      <p:pic>
        <p:nvPicPr>
          <p:cNvPr id="9" name="Picture 8" descr="step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529584" cy="220599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0" y="1828800"/>
            <a:ext cx="3529584" cy="2205990"/>
          </a:xfrm>
          <a:prstGeom prst="rect">
            <a:avLst/>
          </a:prstGeom>
          <a:noFill/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199382"/>
            <a:ext cx="3529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B820"/>
                </a:solidFill>
                <a:latin typeface="JetBrains Mono"/>
              </a:rPr>
              <a:t>02  RULES + DRILL-DOWN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501134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8898"/>
                </a:solidFill>
                <a:latin typeface="Inter"/>
              </a:rPr>
              <a:t>Pass / warn / fail per rule, adjustable thresholds, click through to offending rows.</a:t>
            </a:r>
          </a:p>
        </p:txBody>
      </p:sp>
      <p:pic>
        <p:nvPicPr>
          <p:cNvPr id="13" name="Picture 12" descr="step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828800"/>
            <a:ext cx="3529584" cy="220599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321040" y="1828800"/>
            <a:ext cx="3529584" cy="2205990"/>
          </a:xfrm>
          <a:prstGeom prst="rect">
            <a:avLst/>
          </a:prstGeom>
          <a:noFill/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199382"/>
            <a:ext cx="3529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B820"/>
                </a:solidFill>
                <a:latin typeface="JetBrains Mono"/>
              </a:rPr>
              <a:t>03  DASHBOARD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501134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8898"/>
                </a:solidFill>
                <a:latin typeface="Inter"/>
              </a:rPr>
              <a:t>100k-row server-side-style pagination, anomaly chart, one-click CSV export.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B820"/>
                </a:solidFill>
                <a:latin typeface="Inter"/>
              </a:rPr>
              <a:t>Honest note: </a:t>
            </a:r>
            <a:r>
              <a:rPr sz="1150" b="0">
                <a:solidFill>
                  <a:srgbClr val="8A8898"/>
                </a:solidFill>
                <a:latin typeface="Inter"/>
              </a:rPr>
              <a:t>the demo runs the real algorithm on smaller fixtures and visualizes memory behavior at scale. It is the exact approach the Milestone 2 proof of concept proves on real 500 MB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B820"/>
                </a:solidFill>
                <a:latin typeface="JetBrains Mono"/>
              </a:rPr>
              <a:t>REQUIRED ANSWER  / 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2EDE4"/>
                </a:solidFill>
                <a:latin typeface="Space Grotesk"/>
              </a:rPr>
              <a:t>Largest structured file in production, and memory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A8898"/>
                </a:solidFill>
                <a:latin typeface="Inter"/>
              </a:rPr>
              <a:t>I have processed multi-hundred-MB structured exports in production where loading the full tree was never an option. The production pattern is event-driven streaming with lxml, never a full parse.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63240"/>
            <a:ext cx="6583680" cy="2331720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61264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ED46A"/>
                </a:solidFill>
                <a:latin typeface="JetBrains Mono"/>
              </a:rPr>
              <a:t>for ev, elem in iterparse(f, events=('end',), tag='Transaction'):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2EDE4"/>
                </a:solidFill>
                <a:latin typeface="JetBrains Mono"/>
              </a:rPr>
              <a:t>    process(elem)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2EDE4"/>
                </a:solidFill>
                <a:latin typeface="JetBrains Mono"/>
              </a:rPr>
              <a:t>    elem.clear()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2EDE4"/>
                </a:solidFill>
                <a:latin typeface="JetBrains Mono"/>
              </a:rPr>
              <a:t>    while elem.getprevious() is not None: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2EDE4"/>
                </a:solidFill>
                <a:latin typeface="JetBrains Mono"/>
              </a:rPr>
              <a:t>        del elem.getparent()[0]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063240"/>
            <a:ext cx="3611880" cy="2331720"/>
          </a:xfrm>
          <a:prstGeom prst="rect">
            <a:avLst/>
          </a:prstGeom>
          <a:solidFill>
            <a:srgbClr val="1E1C26"/>
          </a:solidFill>
          <a:ln w="12700">
            <a:solidFill>
              <a:srgbClr val="E8B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291840"/>
            <a:ext cx="3063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8898"/>
                </a:solidFill>
                <a:latin typeface="JetBrains Mono"/>
              </a:rPr>
              <a:t>500 MB file -&gt;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B820"/>
                </a:solidFill>
                <a:latin typeface="Space Grotesk"/>
              </a:rPr>
              <a:t>80-120 MB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8898"/>
                </a:solidFill>
                <a:latin typeface="JetBrains Mono"/>
              </a:rPr>
              <a:t>peak memory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EDE4"/>
                </a:solidFill>
                <a:latin typeface="Inter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8898"/>
                </a:solidFill>
                <a:latin typeface="Inter"/>
              </a:rPr>
              <a:t>vs 600-800 MB for a full etree.parse(). Records stream to PostgreSQL or S3 in batches. The demo chart visualizes exactly this.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EDE4"/>
                </a:solidFill>
                <a:latin typeface="Inter"/>
              </a:rPr>
              <a:t>This is also the Milestone 2 payment gate: a FastAPI endpoint that streams a 500+ MB file through iterparse in a Celery task and returns a measured memory profile (tracemalloc / psutil RSS) before the rest proceeds.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B820"/>
                </a:solidFill>
                <a:latin typeface="JetBrains Mono"/>
              </a:rPr>
              <a:t>REQUIRED ANSWER  / 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2EDE4"/>
                </a:solidFill>
                <a:latin typeface="Space Grotesk"/>
              </a:rPr>
              <a:t>Tenant isolation in FastAPI + PostgreSQL, at four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A8898"/>
                </a:solidFill>
                <a:latin typeface="Inter"/>
              </a:rPr>
              <a:t>All four enforced, and all four tested. Not assumed.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5285232" cy="1627632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54864" cy="1627632"/>
          </a:xfrm>
          <a:prstGeom prst="rect">
            <a:avLst/>
          </a:prstGeom>
          <a:solidFill>
            <a:srgbClr val="12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34056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B4C8"/>
                </a:solidFill>
                <a:latin typeface="JetBrains Mono"/>
              </a:rPr>
              <a:t>LAYER 1  /  JWT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36392"/>
            <a:ext cx="4782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A tenant_id claim, decoded by a FastAPI dependency into a tenant context that every data route requires. No context, no table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2514600"/>
            <a:ext cx="5285232" cy="1627632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2514600"/>
            <a:ext cx="54864" cy="1627632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734056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B820"/>
                </a:solidFill>
                <a:latin typeface="JetBrains Mono"/>
              </a:rPr>
              <a:t>LAYER 2  /  QUERY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136392"/>
            <a:ext cx="4782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A tenant-scoped SQLAlchemy session auto-appends tenant_id == ctx.tenant_id to every select, update, and delete. No route can forget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61688"/>
            <a:ext cx="5285232" cy="1627632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361688"/>
            <a:ext cx="54864" cy="1627632"/>
          </a:xfrm>
          <a:prstGeom prst="rect">
            <a:avLst/>
          </a:prstGeom>
          <a:solidFill>
            <a:srgbClr val="6ED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81144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ED46A"/>
                </a:solidFill>
                <a:latin typeface="JetBrains Mono"/>
              </a:rPr>
              <a:t>LAYER 3  /  POSTGRES 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4782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Row-Level Security keyed on SET LOCAL app.current_tenant, defense in depth. SET LOCAL is safe under PgBouncer transaction pooling.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4361688"/>
            <a:ext cx="5285232" cy="1627632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4361688"/>
            <a:ext cx="54864" cy="1627632"/>
          </a:xfrm>
          <a:prstGeom prst="rect">
            <a:avLst/>
          </a:prstGeom>
          <a:solidFill>
            <a:srgbClr val="F01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4581144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0186E"/>
                </a:solidFill>
                <a:latin typeface="JetBrains Mono"/>
              </a:rPr>
              <a:t>LAYER 4  /  API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983480"/>
            <a:ext cx="4782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Two seeded tenants; every endpoint asserts tenant A cannot read or modify tenant B, even with manipulated tokens. ruff + bandit catch raw 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B820"/>
                </a:solidFill>
                <a:latin typeface="JetBrains Mono"/>
              </a:rPr>
              <a:t>THE APPROACH  /  6 MILESTONES, FIXED-PRICE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2EDE4"/>
                </a:solidFill>
                <a:latin typeface="Space Grotesk"/>
              </a:rPr>
              <a:t>How I would build the real 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529584" cy="1874519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8424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8B820"/>
                </a:solidFill>
                <a:latin typeface="Space Grotesk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EDE4"/>
                </a:solidFill>
                <a:latin typeface="Space Grotesk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07208"/>
            <a:ext cx="29809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8898"/>
                </a:solidFill>
                <a:latin typeface="Inter"/>
              </a:rPr>
              <a:t>FastAPI + React/TS + PostgreSQL scaffold, auth behind the Supabase/Auth0 adapter, multi-tenant base.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783080"/>
            <a:ext cx="3529584" cy="1874519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98424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8B820"/>
                </a:solidFill>
                <a:latin typeface="Space Grotesk"/>
              </a:rP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441448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EDE4"/>
                </a:solidFill>
                <a:latin typeface="Space Grotesk"/>
              </a:rPr>
              <a:t>Parse PoC (gated)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807208"/>
            <a:ext cx="29809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8898"/>
                </a:solidFill>
                <a:latin typeface="Inter"/>
              </a:rPr>
              <a:t>Format detector + lxml iterparse on a real 500+ MB file with a measured memory profile. Payment gate.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783080"/>
            <a:ext cx="3529584" cy="1874519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98424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8B820"/>
                </a:solidFill>
                <a:latin typeface="Space Grotesk"/>
              </a:rP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41448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EDE4"/>
                </a:solidFill>
                <a:latin typeface="Space Grotesk"/>
              </a:rPr>
              <a:t>Rules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07208"/>
            <a:ext cx="29809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8898"/>
                </a:solidFill>
                <a:latin typeface="Inter"/>
              </a:rPr>
              <a:t>170+ documented rules, configurable thresholds, pass/warn/fail, drill-down to source transactions.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877055"/>
            <a:ext cx="3529584" cy="1874519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78223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8B820"/>
                </a:solidFill>
                <a:latin typeface="Space Grotesk"/>
              </a:rPr>
              <a:t>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35423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EDE4"/>
                </a:solidFill>
                <a:latin typeface="Space Grotesk"/>
              </a:rPr>
              <a:t>Async +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01183"/>
            <a:ext cx="29809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8898"/>
                </a:solidFill>
                <a:latin typeface="Inter"/>
              </a:rPr>
              <a:t>Celery heavy/light queues on Redis, job lifecycle + status polling, S3 or Azure Blob, PDF embedded-XML.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877055"/>
            <a:ext cx="3529584" cy="1874519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078223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8B820"/>
                </a:solidFill>
                <a:latin typeface="Space Grotesk"/>
              </a:rPr>
              <a:t>M5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535423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EDE4"/>
                </a:solidFill>
                <a:latin typeface="Space Grotesk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901183"/>
            <a:ext cx="29809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8898"/>
                </a:solidFill>
                <a:latin typeface="Inter"/>
              </a:rPr>
              <a:t>Charts, anomaly/trend analysis, 100k-row server-side pagination, Excel and PDF export.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877055"/>
            <a:ext cx="3529584" cy="1874519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4078223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8B820"/>
                </a:solidFill>
                <a:latin typeface="Space Grotesk"/>
              </a:rPr>
              <a:t>M6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535423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EDE4"/>
                </a:solidFill>
                <a:latin typeface="Space Grotesk"/>
              </a:rPr>
              <a:t>Billing + hardening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901183"/>
            <a:ext cx="29809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8898"/>
                </a:solidFill>
                <a:latin typeface="Inter"/>
              </a:rPr>
              <a:t>Stripe trials, plans, proration, webhooks, cancellation. Final coverage, static analysis, release.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B820"/>
                </a:solidFill>
                <a:latin typeface="Inter"/>
              </a:rPr>
              <a:t>Every milestone: </a:t>
            </a:r>
            <a:r>
              <a:rPr sz="1150" b="0">
                <a:solidFill>
                  <a:srgbClr val="8A8898"/>
                </a:solidFill>
                <a:latin typeface="Inter"/>
              </a:rPr>
              <a:t>golden-file tests against pre-validated fixtures, 70%+ coverage on business logic, zero critical static findings, a Monday written update, and a milestone-close demo call on a pre-agreed 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B820"/>
                </a:solidFill>
                <a:latin typeface="JetBrains Mono"/>
              </a:rPr>
              <a:t>WHY MICHAEL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EDE4"/>
                </a:solidFill>
                <a:latin typeface="Space Grotesk"/>
              </a:rPr>
              <a:t>Built audit-grade software before,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529584" cy="2057400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B820"/>
                </a:solidFill>
                <a:latin typeface="Space Grotesk"/>
              </a:rPr>
              <a:t>2.5 yrs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Sole developer and SME on a 60k-LOC internal platform at U.S. Bank serving 600 users a month, where correctness was never optional.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48840"/>
            <a:ext cx="3529584" cy="2057400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423160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B820"/>
                </a:solidFill>
                <a:latin typeface="Space Grotesk"/>
              </a:rPr>
              <a:t>6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10896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Led that platform's migration to Azure Cloud as main rep, among the first apps the bank moved. Comfortable owning infra.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148840"/>
            <a:ext cx="3529584" cy="2057400"/>
          </a:xfrm>
          <a:prstGeom prst="rect">
            <a:avLst/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423160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B820"/>
                </a:solidFill>
                <a:latin typeface="Space Grotesk"/>
              </a:rPr>
              <a:t>Current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10896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Full-stack on an Optum healthcare project (Angular + .NET + PostgreSQL, onion architecture, strict Agile). Multi-tenant rigor is daily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617720"/>
            <a:ext cx="10561320" cy="1417320"/>
          </a:xfrm>
          <a:prstGeom prst="rect">
            <a:avLst/>
          </a:prstGeom>
          <a:solidFill>
            <a:srgbClr val="191720"/>
          </a:solidFill>
          <a:ln w="15875">
            <a:solidFill>
              <a:srgbClr val="E8B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28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2EDE4"/>
                </a:solidFill>
                <a:latin typeface="Space Grotesk"/>
              </a:rPr>
              <a:t>Let's lock Milestone 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218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I welcome the payment gate and the paid probation task: send a real XML file and a REST contract and I will return the parsed response. </a:t>
            </a:r>
            <a:r>
              <a:rPr sz="1300" b="1">
                <a:solidFill>
                  <a:srgbClr val="E8B820"/>
                </a:solidFill>
                <a:latin typeface="JetBrains Mono"/>
              </a:rPr>
              <a:t>Open the demo:  michaelwegter.com/work-samples/full-stack-developer-python-fastapi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