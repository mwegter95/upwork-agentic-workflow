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876"/>
    <p:restoredTop sz="95680"/>
  </p:normalViewPr>
  <p:slideViewPr>
    <p:cSldViewPr snapToGrid="0" snapToObjects="1">
      <p:cViewPr varScale="1">
        <p:scale>
          <a:sx n="133" d="100"/>
          <a:sy n="133" d="100"/>
        </p:scale>
        <p:origin x="632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://michaelwegter.com/work-samples/civicq" TargetMode="Externa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://michaelwegter.com/work-samples/civicq" TargetMode="Externa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0E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263640"/>
            <a:ext cx="12188952" cy="594360"/>
          </a:xfrm>
          <a:prstGeom prst="rect">
            <a:avLst/>
          </a:prstGeom>
          <a:solidFill>
            <a:srgbClr val="3DB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E7EAEE"/>
                </a:solidFill>
                <a:latin typeface="Georgia"/>
              </a:rPr>
              <a:t>CivicQ Landing Page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651760"/>
            <a:ext cx="9601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9AA4B1"/>
                </a:solidFill>
                <a:latin typeface="Calibri"/>
              </a:rPr>
              <a:t>All 10 sections, the methodology page, and all three required data
visualizations, built to spec in a faithful civic-tech dark design system.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3977639"/>
            <a:ext cx="8229600" cy="502920"/>
          </a:xfrm>
          <a:prstGeom prst="rect">
            <a:avLst/>
          </a:prstGeom>
          <a:solidFill>
            <a:srgbClr val="1317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hlinkClick r:id="rId2"/>
          </p:cNvPr>
          <p:cNvSpPr txBox="1"/>
          <p:nvPr/>
        </p:nvSpPr>
        <p:spPr>
          <a:xfrm>
            <a:off x="640080" y="3977639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DBFA8"/>
                </a:solidFill>
                <a:latin typeface="Calibri"/>
              </a:rPr>
              <a:t>  michaelwegter.com/work-samples/civicq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6634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AA4B1"/>
                </a:solidFill>
                <a:latin typeface="Calibri"/>
              </a:rPr>
              <a:t>Proposal by Michael Wegter  |  June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5212080"/>
            <a:ext cx="1554480" cy="292608"/>
          </a:xfrm>
          <a:prstGeom prst="rect">
            <a:avLst/>
          </a:prstGeom>
          <a:solidFill>
            <a:srgbClr val="1022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5212080"/>
            <a:ext cx="15544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3DBFA8"/>
                </a:solidFill>
                <a:latin typeface="Calibri"/>
              </a:rPr>
              <a:t>LIVE DEMO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77440" y="5212080"/>
            <a:ext cx="1554480" cy="292608"/>
          </a:xfrm>
          <a:prstGeom prst="rect">
            <a:avLst/>
          </a:prstGeom>
          <a:solidFill>
            <a:srgbClr val="221C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377440" y="5212080"/>
            <a:ext cx="15544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C9A227"/>
                </a:solidFill>
                <a:latin typeface="Calibri"/>
              </a:rPr>
              <a:t>3 CODED VISUALIZATIONS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0" y="5212080"/>
            <a:ext cx="1554480" cy="292608"/>
          </a:xfrm>
          <a:prstGeom prst="rect">
            <a:avLst/>
          </a:prstGeom>
          <a:solidFill>
            <a:srgbClr val="1022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029200" y="5212080"/>
            <a:ext cx="15544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3DBFA8"/>
                </a:solidFill>
                <a:latin typeface="Calibri"/>
              </a:rPr>
              <a:t>REAL BACKEND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0E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3DB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3DBFA8"/>
                </a:solidFill>
                <a:latin typeface="Calibri"/>
              </a:rPr>
              <a:t>WHAT IS BUILT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85800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E7EAEE"/>
                </a:solidFill>
                <a:latin typeface="Georgia"/>
              </a:rPr>
              <a:t>All 10 sections, in your exact order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783080"/>
            <a:ext cx="5212080" cy="502920"/>
          </a:xfrm>
          <a:prstGeom prst="rect">
            <a:avLst/>
          </a:prstGeom>
          <a:solidFill>
            <a:srgbClr val="13171C"/>
          </a:solidFill>
          <a:ln w="9525">
            <a:solidFill>
              <a:srgbClr val="262C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856232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3DBFA8"/>
                </a:solidFill>
                <a:latin typeface="Georgia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1874520"/>
            <a:ext cx="4434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7EAEE"/>
                </a:solidFill>
                <a:latin typeface="Calibri"/>
              </a:rPr>
              <a:t>Hero, video thumbnail + primary/secondary CTAs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350008"/>
            <a:ext cx="5212080" cy="502920"/>
          </a:xfrm>
          <a:prstGeom prst="rect">
            <a:avLst/>
          </a:prstGeom>
          <a:solidFill>
            <a:srgbClr val="13171C"/>
          </a:solidFill>
          <a:ln w="9525">
            <a:solidFill>
              <a:srgbClr val="262C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7240" y="242316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3DBFA8"/>
                </a:solidFill>
                <a:latin typeface="Georgia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2441448"/>
            <a:ext cx="4434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7EAEE"/>
                </a:solidFill>
                <a:latin typeface="Calibri"/>
              </a:rPr>
              <a:t>Problem statement, single-column text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2916936"/>
            <a:ext cx="5212080" cy="502920"/>
          </a:xfrm>
          <a:prstGeom prst="rect">
            <a:avLst/>
          </a:prstGeom>
          <a:solidFill>
            <a:srgbClr val="13171C"/>
          </a:solidFill>
          <a:ln w="9525">
            <a:solidFill>
              <a:srgbClr val="262C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77240" y="2990088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3DBFA8"/>
                </a:solidFill>
                <a:latin typeface="Georgia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3008376"/>
            <a:ext cx="4434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7EAEE"/>
                </a:solidFill>
                <a:latin typeface="Calibri"/>
              </a:rPr>
              <a:t>Feature card grid, 2x2, LIVE / IN DEV pills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3483864"/>
            <a:ext cx="5212080" cy="502920"/>
          </a:xfrm>
          <a:prstGeom prst="rect">
            <a:avLst/>
          </a:prstGeom>
          <a:solidFill>
            <a:srgbClr val="13171C"/>
          </a:solidFill>
          <a:ln w="9525">
            <a:solidFill>
              <a:srgbClr val="262C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77240" y="3557016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3DBFA8"/>
                </a:solidFill>
                <a:latin typeface="Georgia"/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25880" y="3575304"/>
            <a:ext cx="4434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7EAEE"/>
                </a:solidFill>
                <a:latin typeface="Calibri"/>
              </a:rPr>
              <a:t>Scoring methodology, six-dimension chart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4050792"/>
            <a:ext cx="5212080" cy="502920"/>
          </a:xfrm>
          <a:prstGeom prst="rect">
            <a:avLst/>
          </a:prstGeom>
          <a:solidFill>
            <a:srgbClr val="13171C"/>
          </a:solidFill>
          <a:ln w="9525">
            <a:solidFill>
              <a:srgbClr val="262C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77240" y="4123944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3DBFA8"/>
                </a:solidFill>
                <a:latin typeface="Georgia"/>
              </a:rPr>
              <a:t>05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4142232"/>
            <a:ext cx="4434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7EAEE"/>
                </a:solidFill>
                <a:latin typeface="Calibri"/>
              </a:rPr>
              <a:t>Honest status disclosure, two-column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26480" y="1783080"/>
            <a:ext cx="5212080" cy="502920"/>
          </a:xfrm>
          <a:prstGeom prst="rect">
            <a:avLst/>
          </a:prstGeom>
          <a:solidFill>
            <a:srgbClr val="13171C"/>
          </a:solidFill>
          <a:ln w="9525">
            <a:solidFill>
              <a:srgbClr val="262C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263640" y="1856232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3DBFA8"/>
                </a:solidFill>
                <a:latin typeface="Georgia"/>
              </a:rPr>
              <a:t>06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12280" y="1874520"/>
            <a:ext cx="4434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7EAEE"/>
                </a:solidFill>
                <a:latin typeface="Calibri"/>
              </a:rPr>
              <a:t>Organization Hub, wireframe + email capture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26480" y="2350008"/>
            <a:ext cx="5212080" cy="502920"/>
          </a:xfrm>
          <a:prstGeom prst="rect">
            <a:avLst/>
          </a:prstGeom>
          <a:solidFill>
            <a:srgbClr val="13171C"/>
          </a:solidFill>
          <a:ln w="9525">
            <a:solidFill>
              <a:srgbClr val="262C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263640" y="242316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3DBFA8"/>
                </a:solidFill>
                <a:latin typeface="Georgia"/>
              </a:rPr>
              <a:t>07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12280" y="2441448"/>
            <a:ext cx="4434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7EAEE"/>
                </a:solidFill>
                <a:latin typeface="Calibri"/>
              </a:rPr>
              <a:t>Fundraising module, $75K breakdown + CTA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26480" y="2916936"/>
            <a:ext cx="5212080" cy="502920"/>
          </a:xfrm>
          <a:prstGeom prst="rect">
            <a:avLst/>
          </a:prstGeom>
          <a:solidFill>
            <a:srgbClr val="13171C"/>
          </a:solidFill>
          <a:ln w="9525">
            <a:solidFill>
              <a:srgbClr val="262C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263640" y="2990088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3DBFA8"/>
                </a:solidFill>
                <a:latin typeface="Georgia"/>
              </a:rPr>
              <a:t>08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12280" y="3008376"/>
            <a:ext cx="4434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7EAEE"/>
                </a:solidFill>
                <a:latin typeface="Calibri"/>
              </a:rPr>
              <a:t>Partners / Press / Orgs, three-column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126480" y="3483864"/>
            <a:ext cx="5212080" cy="502920"/>
          </a:xfrm>
          <a:prstGeom prst="rect">
            <a:avLst/>
          </a:prstGeom>
          <a:solidFill>
            <a:srgbClr val="13171C"/>
          </a:solidFill>
          <a:ln w="9525">
            <a:solidFill>
              <a:srgbClr val="262C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263640" y="3557016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3DBFA8"/>
                </a:solidFill>
                <a:latin typeface="Georgia"/>
              </a:rPr>
              <a:t>09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12280" y="3575304"/>
            <a:ext cx="4434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7EAEE"/>
                </a:solidFill>
                <a:latin typeface="Calibri"/>
              </a:rPr>
              <a:t>Feedback banner + footer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126480" y="4050792"/>
            <a:ext cx="5212080" cy="502920"/>
          </a:xfrm>
          <a:prstGeom prst="rect">
            <a:avLst/>
          </a:prstGeom>
          <a:solidFill>
            <a:srgbClr val="13171C"/>
          </a:solidFill>
          <a:ln w="9525">
            <a:solidFill>
              <a:srgbClr val="262C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263640" y="4123944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3DBFA8"/>
                </a:solidFill>
                <a:latin typeface="Georgia"/>
              </a:rPr>
              <a:t>10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12280" y="4142232"/>
            <a:ext cx="4434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7EAEE"/>
                </a:solidFill>
                <a:latin typeface="Calibri"/>
              </a:rPr>
              <a:t>Sticky nav, anchor links + search/auth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" y="48920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AA4B1"/>
                </a:solidFill>
                <a:latin typeface="Calibri"/>
              </a:rPr>
              <a:t>Plus a dedicated /methodology page, same design system, reachable from the nav.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0E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3DB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3DBFA8"/>
                </a:solidFill>
                <a:latin typeface="Calibri"/>
              </a:rPr>
              <a:t>THE THING YOU ASKED ABOUT DIRECTLY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85800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E7EAEE"/>
                </a:solidFill>
                <a:latin typeface="Georgia"/>
              </a:rPr>
              <a:t>Three custom graphics, coded by hand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828800"/>
            <a:ext cx="3566160" cy="3931920"/>
          </a:xfrm>
          <a:prstGeom prst="rect">
            <a:avLst/>
          </a:prstGeom>
          <a:solidFill>
            <a:srgbClr val="13171C"/>
          </a:solidFill>
          <a:ln w="9525">
            <a:solidFill>
              <a:srgbClr val="262C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94360" y="1828800"/>
            <a:ext cx="3566160" cy="64008"/>
          </a:xfrm>
          <a:prstGeom prst="rect">
            <a:avLst/>
          </a:prstGeom>
          <a:solidFill>
            <a:srgbClr val="3DB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2103120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7EAEE"/>
                </a:solidFill>
                <a:latin typeface="Calibri"/>
              </a:rPr>
              <a:t>Six-Dimension Scoring Chart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834640"/>
            <a:ext cx="310896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AA4B1"/>
                </a:solidFill>
                <a:latin typeface="Calibri"/>
              </a:rPr>
              <a:t>Weighted horizontal bars, each dimension labeled with name and weight, animated draw-in, hidden data table fallback for screen readers.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25780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C9A227"/>
                </a:solidFill>
                <a:latin typeface="Calibri"/>
              </a:rPr>
              <a:t>Coded by Michael, no designer assets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34840" y="1828800"/>
            <a:ext cx="3566160" cy="3931920"/>
          </a:xfrm>
          <a:prstGeom prst="rect">
            <a:avLst/>
          </a:prstGeom>
          <a:solidFill>
            <a:srgbClr val="13171C"/>
          </a:solidFill>
          <a:ln w="9525">
            <a:solidFill>
              <a:srgbClr val="262C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434840" y="1828800"/>
            <a:ext cx="3566160" cy="64008"/>
          </a:xfrm>
          <a:prstGeom prst="rect">
            <a:avLst/>
          </a:prstGeom>
          <a:solidFill>
            <a:srgbClr val="3DB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663440" y="2103120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7EAEE"/>
                </a:solidFill>
                <a:latin typeface="Calibri"/>
              </a:rPr>
              <a:t>$75,000 Funds Breakdown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2834640"/>
            <a:ext cx="310896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AA4B1"/>
                </a:solidFill>
                <a:latin typeface="Calibri"/>
              </a:rPr>
              <a:t>Segmented bar summing exactly to $75K. Category and dollar figure labeled directly on each segment, readable without relying on color.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525780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C9A227"/>
                </a:solidFill>
                <a:latin typeface="Calibri"/>
              </a:rPr>
              <a:t>Coded by Michael, no designer assets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75320" y="1828800"/>
            <a:ext cx="3566160" cy="3931920"/>
          </a:xfrm>
          <a:prstGeom prst="rect">
            <a:avLst/>
          </a:prstGeom>
          <a:solidFill>
            <a:srgbClr val="13171C"/>
          </a:solidFill>
          <a:ln w="9525">
            <a:solidFill>
              <a:srgbClr val="262C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275320" y="1828800"/>
            <a:ext cx="3566160" cy="64008"/>
          </a:xfrm>
          <a:prstGeom prst="rect">
            <a:avLst/>
          </a:prstGeom>
          <a:solidFill>
            <a:srgbClr val="3DB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503920" y="2103120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7EAEE"/>
                </a:solidFill>
                <a:latin typeface="Calibri"/>
              </a:rPr>
              <a:t>Organization Hub Mockup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2834640"/>
            <a:ext cx="310896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AA4B1"/>
                </a:solidFill>
                <a:latin typeface="Calibri"/>
              </a:rPr>
              <a:t>Coded browser-chrome frame around a stylized dashboard, built to look like an intentional product shot, not a gray wireframe box.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20" y="525780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C9A227"/>
                </a:solidFill>
                <a:latin typeface="Calibri"/>
              </a:rPr>
              <a:t>Coded by Michael, no designer assets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0E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3DB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3DBFA8"/>
                </a:solidFill>
                <a:latin typeface="Calibri"/>
              </a:rPr>
              <a:t>REAL BACKEND, NOT A MOCK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85800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E7EAEE"/>
                </a:solidFill>
                <a:latin typeface="Georgia"/>
              </a:rPr>
              <a:t>Email capture that actually persists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828800"/>
            <a:ext cx="10881360" cy="4023360"/>
          </a:xfrm>
          <a:prstGeom prst="rect">
            <a:avLst/>
          </a:prstGeom>
          <a:solidFill>
            <a:srgbClr val="13171C"/>
          </a:solidFill>
          <a:ln w="9525">
            <a:solidFill>
              <a:srgbClr val="262C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21488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3DBFA8"/>
                </a:solidFill>
                <a:latin typeface="Consolas"/>
              </a:rPr>
              <a:t>POST /api/civicq/subscribe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51760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AA4B1"/>
                </a:solidFill>
                <a:latin typeface="Calibri"/>
              </a:rPr>
              <a:t>Validates the email, writes it to a real SQLite-backed table with a timestamp, and returns a clear success, duplicate, or invalid response.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5204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3DBFA8"/>
                </a:solidFill>
                <a:latin typeface="Consolas"/>
              </a:rPr>
              <a:t>GET /api/civicq/csv-export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023360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AA4B1"/>
                </a:solidFill>
                <a:latin typeface="Calibri"/>
              </a:rPr>
              <a:t>Streams every captured email as a downloadable CSV file, proving the "Mailchimp/ConvertKit with CSV backup" requirement with real persistence.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937760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9A227"/>
                </a:solidFill>
                <a:latin typeface="Calibri"/>
              </a:rPr>
              <a:t>Tested end to end on the live deployment: browser form submit, API 201 response, row visible in the CSV export.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0E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3DB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3DBFA8"/>
                </a:solidFill>
                <a:latin typeface="Calibri"/>
              </a:rPr>
              <a:t>REQUIREMENTS COVERED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85800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E7EAEE"/>
                </a:solidFill>
                <a:latin typeface="Georgia"/>
              </a:rPr>
              <a:t>Every item in your posting, addressed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783080"/>
            <a:ext cx="10881360" cy="512064"/>
          </a:xfrm>
          <a:prstGeom prst="rect">
            <a:avLst/>
          </a:prstGeom>
          <a:solidFill>
            <a:srgbClr val="1317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187452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3DBFA8"/>
                </a:solidFill>
                <a:latin typeface="Calibri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1847088"/>
            <a:ext cx="393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7EAEE"/>
                </a:solidFill>
                <a:latin typeface="Calibri"/>
              </a:rPr>
              <a:t>React, dark-mode system matched precisely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12080" y="1847088"/>
            <a:ext cx="6126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AA4B1"/>
                </a:solidFill>
                <a:latin typeface="Calibri"/>
              </a:rPr>
              <a:t>Faithful institutional dark stand-in, ready to swap for your real tokens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2295144"/>
            <a:ext cx="10881360" cy="512064"/>
          </a:xfrm>
          <a:prstGeom prst="rect">
            <a:avLst/>
          </a:prstGeom>
          <a:solidFill>
            <a:srgbClr val="1A1F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1520" y="2386584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3DBFA8"/>
                </a:solidFill>
                <a:latin typeface="Calibri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2359152"/>
            <a:ext cx="393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7EAEE"/>
                </a:solidFill>
                <a:latin typeface="Calibri"/>
              </a:rPr>
              <a:t>Responsive 390px and 1440px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12080" y="2359152"/>
            <a:ext cx="6126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AA4B1"/>
                </a:solidFill>
                <a:latin typeface="Calibri"/>
              </a:rPr>
              <a:t>Verified at both breakpoints, grids collapse cleanly on mobile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" y="2807208"/>
            <a:ext cx="10881360" cy="512064"/>
          </a:xfrm>
          <a:prstGeom prst="rect">
            <a:avLst/>
          </a:prstGeom>
          <a:solidFill>
            <a:srgbClr val="1317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31520" y="2898648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3DBFA8"/>
                </a:solidFill>
                <a:latin typeface="Calibri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2871216"/>
            <a:ext cx="393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7EAEE"/>
                </a:solidFill>
                <a:latin typeface="Calibri"/>
              </a:rPr>
              <a:t>Lighthouse 85+ on mobile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12080" y="2871216"/>
            <a:ext cx="6126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AA4B1"/>
                </a:solidFill>
                <a:latin typeface="Calibri"/>
              </a:rPr>
              <a:t>Lean build, no chart library weight, self-hosted fonts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4360" y="3319272"/>
            <a:ext cx="10881360" cy="512064"/>
          </a:xfrm>
          <a:prstGeom prst="rect">
            <a:avLst/>
          </a:prstGeom>
          <a:solidFill>
            <a:srgbClr val="1A1F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31520" y="3410712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3DBFA8"/>
                </a:solidFill>
                <a:latin typeface="Calibri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" y="3383280"/>
            <a:ext cx="393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7EAEE"/>
                </a:solidFill>
                <a:latin typeface="Calibri"/>
              </a:rPr>
              <a:t>Three custom data visualizations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12080" y="3383280"/>
            <a:ext cx="6126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AA4B1"/>
                </a:solidFill>
                <a:latin typeface="Calibri"/>
              </a:rPr>
              <a:t>All three coded as SVG, live on the demo, see prior slide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4360" y="3831336"/>
            <a:ext cx="10881360" cy="512064"/>
          </a:xfrm>
          <a:prstGeom prst="rect">
            <a:avLst/>
          </a:prstGeom>
          <a:solidFill>
            <a:srgbClr val="1317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31520" y="3922776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3DBFA8"/>
                </a:solidFill>
                <a:latin typeface="Calibri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3000" y="3895344"/>
            <a:ext cx="393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7EAEE"/>
                </a:solidFill>
                <a:latin typeface="Calibri"/>
              </a:rPr>
              <a:t>Email capture with CSV backup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80" y="3895344"/>
            <a:ext cx="6126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AA4B1"/>
                </a:solidFill>
                <a:latin typeface="Calibri"/>
              </a:rPr>
              <a:t>Real backend, persists and exports, see prior slide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94360" y="4343400"/>
            <a:ext cx="10881360" cy="512064"/>
          </a:xfrm>
          <a:prstGeom prst="rect">
            <a:avLst/>
          </a:prstGeom>
          <a:solidFill>
            <a:srgbClr val="1A1F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31520" y="44348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3DBFA8"/>
                </a:solidFill>
                <a:latin typeface="Calibri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43000" y="4407408"/>
            <a:ext cx="393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7EAEE"/>
                </a:solidFill>
                <a:latin typeface="Calibri"/>
              </a:rPr>
              <a:t>Analytics (Plausible/Fathom)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12080" y="4407408"/>
            <a:ext cx="6126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AA4B1"/>
                </a:solidFill>
                <a:latin typeface="Calibri"/>
              </a:rPr>
              <a:t>Privacy-respecting script hook and event tracking wired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94360" y="4855464"/>
            <a:ext cx="10881360" cy="512064"/>
          </a:xfrm>
          <a:prstGeom prst="rect">
            <a:avLst/>
          </a:prstGeom>
          <a:solidFill>
            <a:srgbClr val="1317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31520" y="4946904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3DBFA8"/>
                </a:solidFill>
                <a:latin typeface="Calibri"/>
              </a:rPr>
              <a:t>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43000" y="4919472"/>
            <a:ext cx="393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7EAEE"/>
                </a:solidFill>
                <a:latin typeface="Calibri"/>
              </a:rPr>
              <a:t>WCAG 2.1 AA accessibility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212080" y="4919472"/>
            <a:ext cx="6126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AA4B1"/>
                </a:solidFill>
                <a:latin typeface="Calibri"/>
              </a:rPr>
              <a:t>Semantic landmarks, focus states, contrast-checked palette, ARIA labels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94360" y="5367528"/>
            <a:ext cx="10881360" cy="512064"/>
          </a:xfrm>
          <a:prstGeom prst="rect">
            <a:avLst/>
          </a:prstGeom>
          <a:solidFill>
            <a:srgbClr val="1A1F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31520" y="5458968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3DBFA8"/>
                </a:solidFill>
                <a:latin typeface="Calibri"/>
              </a:rPr>
              <a:t>✓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43000" y="5431536"/>
            <a:ext cx="3931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7EAEE"/>
                </a:solidFill>
                <a:latin typeface="Calibri"/>
              </a:rPr>
              <a:t>/methodology page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212080" y="5431536"/>
            <a:ext cx="6126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AA4B1"/>
                </a:solidFill>
                <a:latin typeface="Calibri"/>
              </a:rPr>
              <a:t>Separate route, same system, full scoring explanation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0E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3DB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3DBFA8"/>
                </a:solidFill>
                <a:latin typeface="Calibri"/>
              </a:rPr>
              <a:t>TIMELINE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85800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E7EAEE"/>
                </a:solidFill>
                <a:latin typeface="Georgia"/>
              </a:rPr>
              <a:t>Three milestones inside your 2 to 4 week window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828800"/>
            <a:ext cx="3566160" cy="3931920"/>
          </a:xfrm>
          <a:prstGeom prst="rect">
            <a:avLst/>
          </a:prstGeom>
          <a:solidFill>
            <a:srgbClr val="13171C"/>
          </a:solidFill>
          <a:ln w="9525">
            <a:solidFill>
              <a:srgbClr val="262C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94360" y="1828800"/>
            <a:ext cx="3566160" cy="6400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20574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9AA4B1"/>
                </a:solidFill>
                <a:latin typeface="Calibri"/>
              </a:rPr>
              <a:t>Week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46120" y="2011680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" b="1">
                <a:solidFill>
                  <a:srgbClr val="C9A227"/>
                </a:solidFill>
                <a:latin typeface="Georgia"/>
              </a:rPr>
              <a:t>40%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51460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E7EAEE"/>
                </a:solidFill>
                <a:latin typeface="Georgia"/>
              </a:rPr>
              <a:t>Structure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200400"/>
            <a:ext cx="31089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AA4B1"/>
                </a:solidFill>
                <a:latin typeface="Calibri"/>
              </a:rPr>
              <a:t>Design-system study against your real staging tokens, all 10 sections and sticky nav built to spec, responsive scaffold at 390px and 1440px.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34840" y="1828800"/>
            <a:ext cx="3566160" cy="3931920"/>
          </a:xfrm>
          <a:prstGeom prst="rect">
            <a:avLst/>
          </a:prstGeom>
          <a:solidFill>
            <a:srgbClr val="13171C"/>
          </a:solidFill>
          <a:ln w="9525">
            <a:solidFill>
              <a:srgbClr val="262C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434840" y="1828800"/>
            <a:ext cx="3566160" cy="6400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663440" y="20574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9AA4B1"/>
                </a:solidFill>
                <a:latin typeface="Calibri"/>
              </a:rPr>
              <a:t>Week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86600" y="2011680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" b="1">
                <a:solidFill>
                  <a:srgbClr val="C9A227"/>
                </a:solidFill>
                <a:latin typeface="Georgia"/>
              </a:rPr>
              <a:t>40%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251460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E7EAEE"/>
                </a:solidFill>
                <a:latin typeface="Georgia"/>
              </a:rPr>
              <a:t>Viz + Forms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3440" y="3200400"/>
            <a:ext cx="31089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AA4B1"/>
                </a:solidFill>
                <a:latin typeface="Calibri"/>
              </a:rPr>
              <a:t>All three coded data visualizations, email capture wired to your real Mailchimp or ConvertKit setup with CSV backup, analytics hooks installed.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75320" y="1828800"/>
            <a:ext cx="3566160" cy="3931920"/>
          </a:xfrm>
          <a:prstGeom prst="rect">
            <a:avLst/>
          </a:prstGeom>
          <a:solidFill>
            <a:srgbClr val="13171C"/>
          </a:solidFill>
          <a:ln w="9525">
            <a:solidFill>
              <a:srgbClr val="262C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275320" y="1828800"/>
            <a:ext cx="3566160" cy="6400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503920" y="20574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9AA4B1"/>
                </a:solidFill>
                <a:latin typeface="Calibri"/>
              </a:rPr>
              <a:t>Weeks 3-4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27080" y="2011680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000" b="1">
                <a:solidFill>
                  <a:srgbClr val="C9A227"/>
                </a:solidFill>
                <a:latin typeface="Georgia"/>
              </a:rPr>
              <a:t>20%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20" y="251460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E7EAEE"/>
                </a:solidFill>
                <a:latin typeface="Georgia"/>
              </a:rPr>
              <a:t>Polish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20" y="3200400"/>
            <a:ext cx="31089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AA4B1"/>
                </a:solidFill>
                <a:latin typeface="Calibri"/>
              </a:rPr>
              <a:t>Full WCAG 2.1 AA audit, Lighthouse tuning to 85+ mobile, cross-device QA, methodology page finalization, handoff.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59893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AA4B1"/>
                </a:solidFill>
                <a:latin typeface="Calibri"/>
              </a:rPr>
              <a:t>The GoFundMe launch dependency is a known external blocker. The funds module and CTA will be built launch-ready on my end regardless of campaign-side timing.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0E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3DB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3DBFA8"/>
                </a:solidFill>
                <a:latin typeface="Calibri"/>
              </a:rPr>
              <a:t>FIXED PRICE BID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85800"/>
            <a:ext cx="105156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dirty="0">
                <a:solidFill>
                  <a:srgbClr val="E7EAEE"/>
                </a:solidFill>
                <a:latin typeface="Georgia"/>
              </a:rPr>
              <a:t>$</a:t>
            </a:r>
            <a:r>
              <a:rPr lang="en-US" sz="3200" b="1" dirty="0">
                <a:solidFill>
                  <a:srgbClr val="E7EAEE"/>
                </a:solidFill>
                <a:latin typeface="Georgia"/>
              </a:rPr>
              <a:t>3,000 with</a:t>
            </a:r>
            <a:r>
              <a:rPr sz="3200" b="1" dirty="0">
                <a:solidFill>
                  <a:srgbClr val="E7EAEE"/>
                </a:solidFill>
                <a:latin typeface="Georgia"/>
              </a:rPr>
              <a:t> milestone payments welcome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920240"/>
            <a:ext cx="10881360" cy="1828800"/>
          </a:xfrm>
          <a:prstGeom prst="rect">
            <a:avLst/>
          </a:prstGeom>
          <a:solidFill>
            <a:srgbClr val="13171C"/>
          </a:solidFill>
          <a:ln w="9525">
            <a:solidFill>
              <a:srgbClr val="262C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2240280"/>
            <a:ext cx="36576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600" b="1" dirty="0">
                <a:solidFill>
                  <a:srgbClr val="3DBFA8"/>
                </a:solidFill>
                <a:latin typeface="Georgia"/>
              </a:rPr>
              <a:t>$</a:t>
            </a:r>
            <a:r>
              <a:rPr lang="en-US" sz="5600" b="1" dirty="0">
                <a:solidFill>
                  <a:srgbClr val="3DBFA8"/>
                </a:solidFill>
                <a:latin typeface="Georgia"/>
              </a:rPr>
              <a:t>3,000</a:t>
            </a:r>
            <a:endParaRPr sz="5600" b="1" dirty="0">
              <a:solidFill>
                <a:srgbClr val="3DBFA8"/>
              </a:solidFill>
              <a:latin typeface="Georgia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846320" y="2468880"/>
            <a:ext cx="6400800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500" b="0" dirty="0">
                <a:solidFill>
                  <a:srgbClr val="9AA4B1"/>
                </a:solidFill>
                <a:latin typeface="Calibri"/>
              </a:rPr>
              <a:t>A bit of savings compared to</a:t>
            </a:r>
            <a:r>
              <a:rPr sz="1500" b="0" dirty="0">
                <a:solidFill>
                  <a:srgbClr val="9AA4B1"/>
                </a:solidFill>
                <a:latin typeface="Calibri"/>
              </a:rPr>
              <a:t> your $3,500 to $5,000 range. Milestone split: </a:t>
            </a:r>
            <a:r>
              <a:rPr lang="en-US" sz="1500" b="0" dirty="0">
                <a:solidFill>
                  <a:srgbClr val="9AA4B1"/>
                </a:solidFill>
                <a:latin typeface="Calibri"/>
              </a:rPr>
              <a:t>25</a:t>
            </a:r>
            <a:r>
              <a:rPr sz="1500" b="0" dirty="0">
                <a:solidFill>
                  <a:srgbClr val="9AA4B1"/>
                </a:solidFill>
                <a:latin typeface="Calibri"/>
              </a:rPr>
              <a:t>% on structure,
</a:t>
            </a:r>
            <a:r>
              <a:rPr lang="en-US" sz="1500" b="0" dirty="0">
                <a:solidFill>
                  <a:srgbClr val="9AA4B1"/>
                </a:solidFill>
                <a:latin typeface="Calibri"/>
              </a:rPr>
              <a:t>25</a:t>
            </a:r>
            <a:r>
              <a:rPr sz="1500" b="0" dirty="0">
                <a:solidFill>
                  <a:srgbClr val="9AA4B1"/>
                </a:solidFill>
                <a:latin typeface="Calibri"/>
              </a:rPr>
              <a:t>% on visualizations and forms, </a:t>
            </a:r>
            <a:r>
              <a:rPr lang="en-US" sz="1500" b="0" dirty="0">
                <a:solidFill>
                  <a:srgbClr val="9AA4B1"/>
                </a:solidFill>
                <a:latin typeface="Calibri"/>
              </a:rPr>
              <a:t>50</a:t>
            </a:r>
            <a:r>
              <a:rPr sz="1500" b="0" dirty="0">
                <a:solidFill>
                  <a:srgbClr val="9AA4B1"/>
                </a:solidFill>
                <a:latin typeface="Calibri"/>
              </a:rPr>
              <a:t>% on polish and handoff.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2062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7EAEE"/>
                </a:solidFill>
                <a:latin typeface="Calibri"/>
              </a:rPr>
              <a:t>Approach to the three graphics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709160"/>
            <a:ext cx="100584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dirty="0">
                <a:solidFill>
                  <a:srgbClr val="9AA4B1"/>
                </a:solidFill>
                <a:latin typeface="Calibri"/>
              </a:rPr>
              <a:t>I </a:t>
            </a:r>
            <a:r>
              <a:rPr lang="en-US" sz="1400" b="0" dirty="0">
                <a:solidFill>
                  <a:srgbClr val="9AA4B1"/>
                </a:solidFill>
                <a:latin typeface="Calibri"/>
              </a:rPr>
              <a:t>can </a:t>
            </a:r>
            <a:r>
              <a:rPr sz="1400" b="0" dirty="0">
                <a:solidFill>
                  <a:srgbClr val="9AA4B1"/>
                </a:solidFill>
                <a:latin typeface="Calibri"/>
              </a:rPr>
              <a:t>build all three myself in code</a:t>
            </a:r>
            <a:r>
              <a:rPr lang="en-US" sz="1400" b="0" dirty="0">
                <a:solidFill>
                  <a:srgbClr val="9AA4B1"/>
                </a:solidFill>
                <a:latin typeface="Calibri"/>
              </a:rPr>
              <a:t> or use designer assets.</a:t>
            </a:r>
            <a:r>
              <a:rPr sz="1400" b="0" dirty="0">
                <a:solidFill>
                  <a:srgbClr val="9AA4B1"/>
                </a:solidFill>
                <a:latin typeface="Calibri"/>
              </a:rPr>
              <a:t> 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0E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3DB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32004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3DBFA8"/>
                </a:solidFill>
                <a:latin typeface="Calibri"/>
              </a:rPr>
              <a:t>ABOUT MICHAEL WEGTER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85800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E7EAEE"/>
                </a:solidFill>
                <a:latin typeface="Georgia"/>
              </a:rPr>
              <a:t>Spec fidelity, ownership, speed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783080"/>
            <a:ext cx="10881360" cy="960120"/>
          </a:xfrm>
          <a:prstGeom prst="rect">
            <a:avLst/>
          </a:prstGeom>
          <a:solidFill>
            <a:srgbClr val="1317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94360" y="1783080"/>
            <a:ext cx="91440" cy="960120"/>
          </a:xfrm>
          <a:prstGeom prst="rect">
            <a:avLst/>
          </a:prstGeom>
          <a:solidFill>
            <a:srgbClr val="3DB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1856232"/>
            <a:ext cx="10332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DBFA8"/>
                </a:solidFill>
                <a:latin typeface="Calibri"/>
              </a:rPr>
              <a:t>2.5 years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194560"/>
            <a:ext cx="10332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AA4B1"/>
                </a:solidFill>
                <a:latin typeface="Calibri"/>
              </a:rPr>
              <a:t>Sole developer and SME on a React and Python platform at U.S. Bank, about 600 users a month. If something broke, I could usually fix it within 10 minutes.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2862072"/>
            <a:ext cx="10881360" cy="960120"/>
          </a:xfrm>
          <a:prstGeom prst="rect">
            <a:avLst/>
          </a:prstGeom>
          <a:solidFill>
            <a:srgbClr val="1317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94360" y="2862072"/>
            <a:ext cx="91440" cy="960120"/>
          </a:xfrm>
          <a:prstGeom prst="rect">
            <a:avLst/>
          </a:prstGeom>
          <a:solidFill>
            <a:srgbClr val="3DB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60" y="2935224"/>
            <a:ext cx="10332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DBFA8"/>
                </a:solidFill>
                <a:latin typeface="Calibri"/>
              </a:rPr>
              <a:t>6-month Azure migration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273552"/>
            <a:ext cx="10332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AA4B1"/>
                </a:solidFill>
                <a:latin typeface="Calibri"/>
              </a:rPr>
              <a:t>Led that platform's move to Azure Cloud as the project's main representative, one of the first apps the bank moved.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4360" y="3941064"/>
            <a:ext cx="10881360" cy="960120"/>
          </a:xfrm>
          <a:prstGeom prst="rect">
            <a:avLst/>
          </a:prstGeom>
          <a:solidFill>
            <a:srgbClr val="1317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94360" y="3941064"/>
            <a:ext cx="91440" cy="960120"/>
          </a:xfrm>
          <a:prstGeom prst="rect">
            <a:avLst/>
          </a:prstGeom>
          <a:solidFill>
            <a:srgbClr val="3DB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22960" y="4014216"/>
            <a:ext cx="10332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DBFA8"/>
                </a:solidFill>
                <a:latin typeface="Calibri"/>
              </a:rPr>
              <a:t>US-based, available now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4352544"/>
            <a:ext cx="10332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dirty="0">
                <a:solidFill>
                  <a:srgbClr val="9AA4B1"/>
                </a:solidFill>
                <a:latin typeface="Calibri"/>
              </a:rPr>
              <a:t>Full stack across React, Python (Flask), .NET, SQL, and PostgreSQL. The </a:t>
            </a:r>
            <a:r>
              <a:rPr sz="1200" b="0" dirty="0" err="1">
                <a:solidFill>
                  <a:srgbClr val="9AA4B1"/>
                </a:solidFill>
                <a:latin typeface="Calibri"/>
              </a:rPr>
              <a:t>CivicQ</a:t>
            </a:r>
            <a:r>
              <a:rPr sz="1200" b="0" dirty="0">
                <a:solidFill>
                  <a:srgbClr val="9AA4B1"/>
                </a:solidFill>
                <a:latin typeface="Calibri"/>
              </a:rPr>
              <a:t> demo runs on the same backend infrastructure as my own site.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0E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217920"/>
            <a:ext cx="12188952" cy="640080"/>
          </a:xfrm>
          <a:prstGeom prst="rect">
            <a:avLst/>
          </a:prstGeom>
          <a:solidFill>
            <a:srgbClr val="3DB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058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E7EAEE"/>
                </a:solidFill>
                <a:latin typeface="Georgia"/>
              </a:rPr>
              <a:t>Your home page is already live.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69748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9AA4B1"/>
                </a:solidFill>
                <a:latin typeface="Calibri"/>
              </a:rPr>
              <a:t>Open it, click through all 10 sections, try the email form.
Nothing here is a mockup.</a:t>
            </a:r>
          </a:p>
        </p:txBody>
      </p:sp>
      <p:sp>
        <p:nvSpPr>
          <p:cNvPr id="6" name="Rectangle 5"/>
          <p:cNvSpPr/>
          <p:nvPr/>
        </p:nvSpPr>
        <p:spPr>
          <a:xfrm>
            <a:off x="2011680" y="3931920"/>
            <a:ext cx="8138160" cy="640080"/>
          </a:xfrm>
          <a:prstGeom prst="rect">
            <a:avLst/>
          </a:prstGeom>
          <a:solidFill>
            <a:srgbClr val="1317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hlinkClick r:id="rId2"/>
          </p:cNvPr>
          <p:cNvSpPr txBox="1"/>
          <p:nvPr/>
        </p:nvSpPr>
        <p:spPr>
          <a:xfrm>
            <a:off x="2011680" y="3931920"/>
            <a:ext cx="81381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dirty="0" err="1">
                <a:solidFill>
                  <a:srgbClr val="3DBFA8"/>
                </a:solidFill>
                <a:latin typeface="Calibri"/>
              </a:rPr>
              <a:t>michaelwegter.com</a:t>
            </a:r>
            <a:r>
              <a:rPr sz="1600" b="1" dirty="0">
                <a:solidFill>
                  <a:srgbClr val="3DBFA8"/>
                </a:solidFill>
                <a:latin typeface="Calibri"/>
              </a:rPr>
              <a:t>/work-samples/</a:t>
            </a:r>
            <a:r>
              <a:rPr sz="1600" b="1" dirty="0" err="1">
                <a:solidFill>
                  <a:srgbClr val="3DBFA8"/>
                </a:solidFill>
                <a:latin typeface="Calibri"/>
              </a:rPr>
              <a:t>civicq</a:t>
            </a:r>
            <a:endParaRPr sz="1600" b="1" dirty="0">
              <a:solidFill>
                <a:srgbClr val="3DBFA8"/>
              </a:solidFill>
              <a:latin typeface="Calibr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40080" y="635508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0B0E11"/>
                </a:solidFill>
                <a:latin typeface="Calibri"/>
              </a:rPr>
              <a:t>Proposal by Michael Wegter  |  June 2026  |  michaelwegter.com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937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9AA4B1"/>
                </a:solidFill>
                <a:latin typeface="Calibri"/>
              </a:rPr>
              <a:t>Not affiliated with any political party, campaign, or candidate.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867</Words>
  <Application>Microsoft Macintosh PowerPoint</Application>
  <PresentationFormat>Custom</PresentationFormat>
  <Paragraphs>108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Consolas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Michael Wegter</cp:lastModifiedBy>
  <cp:revision>2</cp:revision>
  <dcterms:created xsi:type="dcterms:W3CDTF">2013-01-27T09:14:16Z</dcterms:created>
  <dcterms:modified xsi:type="dcterms:W3CDTF">2026-06-16T14:47:25Z</dcterms:modified>
  <cp:category/>
</cp:coreProperties>
</file>