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9060"/>
                </a:solidFill>
                <a:latin typeface="Calibri"/>
              </a:rPr>
              <a:t>PHASE 1 WEBSITE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20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Maryland Driveway Restore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8B4A8"/>
                </a:solidFill>
                <a:latin typeface="Calibri"/>
              </a:rPr>
              <a:t>A premium, mobile-first WordPress site that converts visitors into phone calls and estimate requests. Live in 7 days.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023360"/>
            <a:ext cx="6858000" cy="685800"/>
          </a:xfrm>
          <a:prstGeom prst="rect">
            <a:avLst/>
          </a:prstGeom>
          <a:solidFill>
            <a:srgbClr val="2A2E2A"/>
          </a:solidFill>
          <a:ln w="9525">
            <a:solidFill>
              <a:srgbClr val="2F5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9060"/>
                </a:solidFill>
                <a:latin typeface="Calibri"/>
              </a:rPr>
              <a:t>LIVE DEMO:  https://api.michaelwegter.com/demos/maryland-driveway-restore/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029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A847A"/>
                </a:solidFill>
                <a:latin typeface="Calibri"/>
              </a:rPr>
              <a:t>Proposal by Michael Wegter  |  michaelwegter.com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9060"/>
                </a:solidFill>
                <a:latin typeface="Calibri"/>
              </a:rP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Most Maryland driveway contractors look like it is 2008 online.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011680"/>
            <a:ext cx="45720" cy="502920"/>
          </a:xfrm>
          <a:prstGeom prst="rect">
            <a:avLst/>
          </a:prstGeom>
          <a:solidFill>
            <a:srgbClr val="4A9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No mobile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0428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4A8"/>
                </a:solidFill>
                <a:latin typeface="Calibri"/>
              </a:rPr>
              <a:t>Over 60% of local searches happen on phones. Sites that break on mobile lose those leads instantly.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788920"/>
            <a:ext cx="45720" cy="502920"/>
          </a:xfrm>
          <a:prstGeom prst="rect">
            <a:avLst/>
          </a:prstGeom>
          <a:solidFill>
            <a:srgbClr val="4A9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788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No lead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8152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4A8"/>
                </a:solidFill>
                <a:latin typeface="Calibri"/>
              </a:rPr>
              <a:t>A phone number in the footer is not a conversion strategy. You need a form, sticky CTAs, and GA4 tracking every action.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566160"/>
            <a:ext cx="45720" cy="502920"/>
          </a:xfrm>
          <a:prstGeom prst="rect">
            <a:avLst/>
          </a:prstGeom>
          <a:solidFill>
            <a:srgbClr val="4A9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566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No local SEO 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4A8"/>
                </a:solidFill>
                <a:latin typeface="Calibri"/>
              </a:rPr>
              <a:t>Without schema, optimized titles, and a GSC-connected sitemap, Google cannot rank a site for "Maryland driveway restoration."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343400"/>
            <a:ext cx="45720" cy="502920"/>
          </a:xfrm>
          <a:prstGeom prst="rect">
            <a:avLst/>
          </a:prstGeom>
          <a:solidFill>
            <a:srgbClr val="4A9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343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No trust signals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63600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4A8"/>
                </a:solidFill>
                <a:latin typeface="Calibri"/>
              </a:rPr>
              <a:t>Before/after photography, reviews, and a clear process walk visitors through the decision. Most sites skip all three.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9060"/>
                </a:solidFill>
                <a:latin typeface="Calibr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 real WordPress site. Log in and explore the admin.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4A8"/>
                </a:solidFill>
                <a:latin typeface="Calibri"/>
              </a:rPr>
              <a:t>This is not a mockup. It is a fully functional WordPress install with all 9 Phase 1 pages, real schema, real forms, real Rank Math configuration, and real Fluent Forms lead capture. The same setup gets migrated to Rocket.net on Day 1.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834640"/>
            <a:ext cx="8686800" cy="914400"/>
          </a:xfrm>
          <a:prstGeom prst="rect">
            <a:avLst/>
          </a:prstGeom>
          <a:solidFill>
            <a:srgbClr val="2A2E2A"/>
          </a:solidFill>
          <a:ln w="9525">
            <a:solidFill>
              <a:srgbClr val="2F5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880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847A"/>
                </a:solidFill>
                <a:latin typeface="Calibri"/>
              </a:rPr>
              <a:t>Demo URL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54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9060"/>
                </a:solidFill>
                <a:latin typeface="Calibri"/>
              </a:rPr>
              <a:t>https://api.michaelwegter.com/demos/maryland-driveway-restore/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886200"/>
            <a:ext cx="4114800" cy="822960"/>
          </a:xfrm>
          <a:prstGeom prst="rect">
            <a:avLst/>
          </a:prstGeom>
          <a:solidFill>
            <a:srgbClr val="2A2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847A"/>
                </a:solidFill>
                <a:latin typeface="Calibri"/>
              </a:rPr>
              <a:t>WP Admin 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206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demo_admin  /  DemoView2026!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0600" y="3886200"/>
            <a:ext cx="4343400" cy="822960"/>
          </a:xfrm>
          <a:prstGeom prst="rect">
            <a:avLst/>
          </a:prstGeom>
          <a:solidFill>
            <a:srgbClr val="2A2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3931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847A"/>
                </a:solidFill>
                <a:latin typeface="Calibri"/>
              </a:rPr>
              <a:t>WP Admin URL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4206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9060"/>
                </a:solidFill>
                <a:latin typeface="Calibri"/>
              </a:rPr>
              <a:t>.../wp-login.php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983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A9060"/>
                </a:solidFill>
                <a:latin typeface="Calibri"/>
              </a:rPr>
              <a:t>Real WordPress. Real dashboard. Real demo.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9060"/>
                </a:solidFill>
                <a:latin typeface="Calibri"/>
              </a:rPr>
              <a:t>PHASE 1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9 pages. Every requirement in the brief.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10512"/>
            <a:ext cx="109728" cy="109728"/>
          </a:xfrm>
          <a:prstGeom prst="rect">
            <a:avLst/>
          </a:prstGeom>
          <a:solidFill>
            <a:srgbClr val="4A9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37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4A8"/>
                </a:solidFill>
                <a:latin typeface="Calibri"/>
              </a:rPr>
              <a:t>Homepage (hero, CTAs, benefits, process, pricing, gallery, reviews, FAQ, form)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286000"/>
            <a:ext cx="109728" cy="109728"/>
          </a:xfrm>
          <a:prstGeom prst="rect">
            <a:avLst/>
          </a:prstGeom>
          <a:solidFill>
            <a:srgbClr val="4A9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128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4A8"/>
                </a:solidFill>
                <a:latin typeface="Calibri"/>
              </a:rPr>
              <a:t>Driveway Restoration (service detail, process, before/after)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761488"/>
            <a:ext cx="109728" cy="109728"/>
          </a:xfrm>
          <a:prstGeom prst="rect">
            <a:avLst/>
          </a:prstGeom>
          <a:solidFill>
            <a:srgbClr val="4A9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68833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4A8"/>
                </a:solidFill>
                <a:latin typeface="Calibri"/>
              </a:rPr>
              <a:t>Pricing (tiered table, add-ons, CTA)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36976"/>
            <a:ext cx="109728" cy="109728"/>
          </a:xfrm>
          <a:prstGeom prst="rect">
            <a:avLst/>
          </a:prstGeom>
          <a:solidFill>
            <a:srgbClr val="4A9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16382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4A8"/>
                </a:solidFill>
                <a:latin typeface="Calibri"/>
              </a:rPr>
              <a:t>Gallery (39 images, lightbox, organized by type)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712464"/>
            <a:ext cx="109728" cy="109728"/>
          </a:xfrm>
          <a:prstGeom prst="rect">
            <a:avLst/>
          </a:prstGeom>
          <a:solidFill>
            <a:srgbClr val="4A9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6393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4A8"/>
                </a:solidFill>
                <a:latin typeface="Calibri"/>
              </a:rPr>
              <a:t>About (mission, team, environmental commitment)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810512"/>
            <a:ext cx="109728" cy="109728"/>
          </a:xfrm>
          <a:prstGeom prst="rect">
            <a:avLst/>
          </a:prstGeom>
          <a:solidFill>
            <a:srgbClr val="4A9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47688" y="1737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4A8"/>
                </a:solidFill>
                <a:latin typeface="Calibri"/>
              </a:rPr>
              <a:t>FAQ (38 questions, accordion, FAQ schema)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286000"/>
            <a:ext cx="109728" cy="109728"/>
          </a:xfrm>
          <a:prstGeom prst="rect">
            <a:avLst/>
          </a:prstGeom>
          <a:solidFill>
            <a:srgbClr val="4A9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47688" y="22128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4A8"/>
                </a:solidFill>
                <a:latin typeface="Calibri"/>
              </a:rPr>
              <a:t>Contact / Free Estimate (photo upload, Fluent Forms)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761488"/>
            <a:ext cx="109728" cy="109728"/>
          </a:xfrm>
          <a:prstGeom prst="rect">
            <a:avLst/>
          </a:prstGeom>
          <a:solidFill>
            <a:srgbClr val="4A9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268833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4A8"/>
                </a:solidFill>
                <a:latin typeface="Calibri"/>
              </a:rPr>
              <a:t>Service Areas (Maryland coverage, Annapolis focus)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236976"/>
            <a:ext cx="109728" cy="109728"/>
          </a:xfrm>
          <a:prstGeom prst="rect">
            <a:avLst/>
          </a:prstGeom>
          <a:solidFill>
            <a:srgbClr val="4A9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316382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4A8"/>
                </a:solidFill>
                <a:latin typeface="Calibri"/>
              </a:rPr>
              <a:t>/free-estimate (dedicated QR landing page, not the homepage)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217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847A"/>
                </a:solidFill>
                <a:latin typeface="Calibri"/>
              </a:rPr>
              <a:t>ALSO INCLUDED: Rank Math SEO (4 schema types) | Fluent Forms | ShortPixel | Wordfence | UpdraftPlus | GA4 | GSC | Google Business Profile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9060"/>
                </a:solidFill>
                <a:latin typeface="Calibri"/>
              </a:rPr>
              <a:t>MOBILE-FIRST + LOCAL SEO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Built to rank. Built to convert on phones.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901952"/>
            <a:ext cx="109728" cy="109728"/>
          </a:xfrm>
          <a:prstGeom prst="rect">
            <a:avLst/>
          </a:prstGeom>
          <a:solidFill>
            <a:srgbClr val="4A9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8288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Sticky "Call Now" + "Text a Photo"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07568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4A8"/>
                </a:solidFill>
                <a:latin typeface="Calibri"/>
              </a:rPr>
              <a:t>Fixed at bottom of screen on mobile, 56px touch targets, visible at every scroll position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560320"/>
            <a:ext cx="109728" cy="109728"/>
          </a:xfrm>
          <a:prstGeom prst="rect">
            <a:avLst/>
          </a:prstGeom>
          <a:solidFill>
            <a:srgbClr val="4A9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48716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Responsive mobile-first CSS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73405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4A8"/>
                </a:solidFill>
                <a:latin typeface="Calibri"/>
              </a:rPr>
              <a:t>Designed for phones first, expanded for tablet/desktop. Hamburger nav on mobile.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18688"/>
            <a:ext cx="109728" cy="109728"/>
          </a:xfrm>
          <a:prstGeom prst="rect">
            <a:avLst/>
          </a:prstGeom>
          <a:solidFill>
            <a:srgbClr val="4A9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14553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Core Web Vitals optimized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39242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4A8"/>
                </a:solidFill>
                <a:latin typeface="Calibri"/>
              </a:rPr>
              <a:t>ShortPixel + Rocket CDN + lazy loading = Lighthouse 90+ target before launch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877056"/>
            <a:ext cx="109728" cy="109728"/>
          </a:xfrm>
          <a:prstGeom prst="rect">
            <a:avLst/>
          </a:prstGeom>
          <a:solidFill>
            <a:srgbClr val="4A9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80390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Fast-loading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05079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4A8"/>
                </a:solidFill>
                <a:latin typeface="Calibri"/>
              </a:rPr>
              <a:t>Minimal plugin footprint, no bloat, images compressed and named for SEO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901952"/>
            <a:ext cx="109728" cy="109728"/>
          </a:xfrm>
          <a:prstGeom prst="rect">
            <a:avLst/>
          </a:prstGeom>
          <a:solidFill>
            <a:srgbClr val="4A9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47688" y="18288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Rank Math SEO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7688" y="207568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4A8"/>
                </a:solidFill>
                <a:latin typeface="Calibri"/>
              </a:rPr>
              <a:t>Unique title + meta per page, H1-H3 hierarchy, XML sitemap auto-generated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560320"/>
            <a:ext cx="109728" cy="109728"/>
          </a:xfrm>
          <a:prstGeom prst="rect">
            <a:avLst/>
          </a:prstGeom>
          <a:solidFill>
            <a:srgbClr val="4A9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47688" y="248716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4 Schema Types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7688" y="273405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4A8"/>
                </a:solidFill>
                <a:latin typeface="Calibri"/>
              </a:rPr>
              <a:t>LocalBusiness, Service, FAQ, and Review structured data embedded at launch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218688"/>
            <a:ext cx="109728" cy="109728"/>
          </a:xfrm>
          <a:prstGeom prst="rect">
            <a:avLst/>
          </a:prstGeom>
          <a:solidFill>
            <a:srgbClr val="4A9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47688" y="314553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Priority Keywords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7688" y="339242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4A8"/>
                </a:solidFill>
                <a:latin typeface="Calibri"/>
              </a:rPr>
              <a:t>"Maryland driveway restoration", "Annapolis driveway restoration", "blacktop restoration" + 4 more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877056"/>
            <a:ext cx="109728" cy="109728"/>
          </a:xfrm>
          <a:prstGeom prst="rect">
            <a:avLst/>
          </a:prstGeom>
          <a:solidFill>
            <a:srgbClr val="4A9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47688" y="380390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Google integrations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7688" y="405079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4A8"/>
                </a:solidFill>
                <a:latin typeface="Calibri"/>
              </a:rPr>
              <a:t>GA4, Search Console, Business Profile all configured and verified on Day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9060"/>
                </a:solidFill>
                <a:latin typeface="Calibri"/>
              </a:rPr>
              <a:t>7-DAY LAUNCH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Day-by-day delivery plan.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777240" cy="502920"/>
          </a:xfrm>
          <a:prstGeom prst="rect">
            <a:avLst/>
          </a:prstGeom>
          <a:solidFill>
            <a:srgbClr val="2F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64792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91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Kickoff + Hosting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4767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4A8"/>
                </a:solidFill>
                <a:latin typeface="Calibri"/>
              </a:rPr>
              <a:t>Rocket.net provisioned, WP installed, brand assets received, Bricks Builder licensed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50008"/>
            <a:ext cx="777240" cy="502920"/>
          </a:xfrm>
          <a:prstGeom prst="rect">
            <a:avLst/>
          </a:prstGeom>
          <a:solidFill>
            <a:srgbClr val="2F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423160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3500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Theme + Core Pages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606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4A8"/>
                </a:solidFill>
                <a:latin typeface="Calibri"/>
              </a:rPr>
              <a:t>Custom theme built (charcoal/green/white). Homepage, Driveway Restoration, Pricing completed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008376"/>
            <a:ext cx="777240" cy="502920"/>
          </a:xfrm>
          <a:prstGeom prst="rect">
            <a:avLst/>
          </a:prstGeom>
          <a:solidFill>
            <a:srgbClr val="2F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81528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Day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00837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All Pages + Forms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26440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4A8"/>
                </a:solidFill>
                <a:latin typeface="Calibri"/>
              </a:rPr>
              <a:t>Gallery, About, FAQ, Contact, Service Areas, /free-estimate. Fluent Forms wired with photo upload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666744"/>
            <a:ext cx="777240" cy="502920"/>
          </a:xfrm>
          <a:prstGeom prst="rect">
            <a:avLst/>
          </a:prstGeom>
          <a:solidFill>
            <a:srgbClr val="2F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739896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Day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66674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SEO Config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92277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4A8"/>
                </a:solidFill>
                <a:latin typeface="Calibri"/>
              </a:rPr>
              <a:t>Rank Math: title/meta/H-structure/schema/sitemap/image ALT text/internal links set per page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325112"/>
            <a:ext cx="777240" cy="502920"/>
          </a:xfrm>
          <a:prstGeom prst="rect">
            <a:avLst/>
          </a:prstGeom>
          <a:solidFill>
            <a:srgbClr val="2F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398264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Day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3251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Analytics + GBP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58114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4A8"/>
                </a:solidFill>
                <a:latin typeface="Calibri"/>
              </a:rPr>
              <a:t>GA4 + GSC via Site Kit. Google Business Profile connected and optimized. Event tracking live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983480"/>
            <a:ext cx="777240" cy="502920"/>
          </a:xfrm>
          <a:prstGeom prst="rect">
            <a:avLst/>
          </a:prstGeom>
          <a:solidFill>
            <a:srgbClr val="2F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056632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Day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983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Performance 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23951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4A8"/>
                </a:solidFill>
                <a:latin typeface="Calibri"/>
              </a:rPr>
              <a:t>ShortPixel run. Rocket CDN verified. Lighthouse 90+ confirmed. Mobile CTA testing on devices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641848"/>
            <a:ext cx="777240" cy="502920"/>
          </a:xfrm>
          <a:prstGeom prst="rect">
            <a:avLst/>
          </a:prstGeom>
          <a:solidFill>
            <a:srgbClr val="2F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715000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Day 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56418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Launch + Handoff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58978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4A8"/>
                </a:solidFill>
                <a:latin typeface="Calibri"/>
              </a:rPr>
              <a:t>DNS cutover, SSL verified, owner walkthrough. You can edit the site without a developer.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9060"/>
                </a:solidFill>
                <a:latin typeface="Calibri"/>
              </a:rPr>
              <a:t>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Fixed price. No surprises.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737360"/>
            <a:ext cx="5303520" cy="4389120"/>
          </a:xfrm>
          <a:prstGeom prst="rect">
            <a:avLst/>
          </a:prstGeom>
          <a:solidFill>
            <a:srgbClr val="2A2E2A"/>
          </a:solidFill>
          <a:ln w="9525">
            <a:solidFill>
              <a:srgbClr val="2F5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9060"/>
                </a:solidFill>
                <a:latin typeface="Calibri"/>
              </a:rPr>
              <a:t>PHASE 1 -- FIXED PRICE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860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$1,100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175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9060"/>
                </a:solidFill>
                <a:latin typeface="Calibri"/>
              </a:rPr>
              <a:t>flat  |  Rocket.net hosting, first 2 months included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538728"/>
            <a:ext cx="91440" cy="91440"/>
          </a:xfrm>
          <a:prstGeom prst="rect">
            <a:avLst/>
          </a:prstGeom>
          <a:solidFill>
            <a:srgbClr val="4A9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4A8"/>
                </a:solidFill>
                <a:latin typeface="Calibri"/>
              </a:rPr>
              <a:t>9-page WordPress site (all Phase 1 pages)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886200"/>
            <a:ext cx="91440" cy="91440"/>
          </a:xfrm>
          <a:prstGeom prst="rect">
            <a:avLst/>
          </a:prstGeom>
          <a:solidFill>
            <a:srgbClr val="4A9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82219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4A8"/>
                </a:solidFill>
                <a:latin typeface="Calibri"/>
              </a:rPr>
              <a:t>Bricks Builder visual editor (owner-editable)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233672"/>
            <a:ext cx="91440" cy="91440"/>
          </a:xfrm>
          <a:prstGeom prst="rect">
            <a:avLst/>
          </a:prstGeom>
          <a:solidFill>
            <a:srgbClr val="4A9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69664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4A8"/>
                </a:solidFill>
                <a:latin typeface="Calibri"/>
              </a:rPr>
              <a:t>Rank Math + all 4 schema types at launch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581144"/>
            <a:ext cx="91440" cy="91440"/>
          </a:xfrm>
          <a:prstGeom prst="rect">
            <a:avLst/>
          </a:prstGeom>
          <a:solidFill>
            <a:srgbClr val="4A9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1713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4A8"/>
                </a:solidFill>
                <a:latin typeface="Calibri"/>
              </a:rPr>
              <a:t>Fluent Forms lead capture + photo upload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928616"/>
            <a:ext cx="91440" cy="91440"/>
          </a:xfrm>
          <a:prstGeom prst="rect">
            <a:avLst/>
          </a:prstGeom>
          <a:solidFill>
            <a:srgbClr val="4A9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6460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4A8"/>
                </a:solidFill>
                <a:latin typeface="Calibri"/>
              </a:rPr>
              <a:t>ShortPixel, Wordfence, UpdraftPlus configured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5276088"/>
            <a:ext cx="91440" cy="91440"/>
          </a:xfrm>
          <a:prstGeom prst="rect">
            <a:avLst/>
          </a:prstGeom>
          <a:solidFill>
            <a:srgbClr val="4A9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2120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4A8"/>
                </a:solidFill>
                <a:latin typeface="Calibri"/>
              </a:rPr>
              <a:t>GA4, GSC, Google Business Profile setup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623560"/>
            <a:ext cx="91440" cy="91440"/>
          </a:xfrm>
          <a:prstGeom prst="rect">
            <a:avLst/>
          </a:prstGeom>
          <a:solidFill>
            <a:srgbClr val="4A9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55955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4A8"/>
                </a:solidFill>
                <a:latin typeface="Calibri"/>
              </a:rPr>
              <a:t>30-day post-launch support window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5971032"/>
            <a:ext cx="91440" cy="91440"/>
          </a:xfrm>
          <a:prstGeom prst="rect">
            <a:avLst/>
          </a:prstGeom>
          <a:solidFill>
            <a:srgbClr val="4A9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907024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4A8"/>
                </a:solidFill>
                <a:latin typeface="Calibri"/>
              </a:rPr>
              <a:t>Owner walkthrough + WP admin training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737360"/>
            <a:ext cx="5486400" cy="4389120"/>
          </a:xfrm>
          <a:prstGeom prst="rect">
            <a:avLst/>
          </a:prstGeom>
          <a:solidFill>
            <a:srgbClr val="2A2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187451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9060"/>
                </a:solidFill>
                <a:latin typeface="Calibri"/>
              </a:rPr>
              <a:t>PHASE 2 -- ONGOING PARTNERSHIP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2860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$3,500 - $6,500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0175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4A8"/>
                </a:solidFill>
                <a:latin typeface="Calibri"/>
              </a:rPr>
              <a:t>phased rollout  |  no rebuild required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538728"/>
            <a:ext cx="91440" cy="91440"/>
          </a:xfrm>
          <a:prstGeom prst="rect">
            <a:avLst/>
          </a:prstGeom>
          <a:solidFill>
            <a:srgbClr val="2F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34747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4A8"/>
                </a:solidFill>
                <a:latin typeface="Calibri"/>
              </a:rPr>
              <a:t>30 to 50 Maryland city landing pages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886200"/>
            <a:ext cx="91440" cy="91440"/>
          </a:xfrm>
          <a:prstGeom prst="rect">
            <a:avLst/>
          </a:prstGeom>
          <a:solidFill>
            <a:srgbClr val="2F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38221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4A8"/>
                </a:solidFill>
                <a:latin typeface="Calibri"/>
              </a:rPr>
              <a:t>Neighborhood hyperlocal pages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4233672"/>
            <a:ext cx="91440" cy="91440"/>
          </a:xfrm>
          <a:prstGeom prst="rect">
            <a:avLst/>
          </a:prstGeom>
          <a:solidFill>
            <a:srgbClr val="2F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416966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4A8"/>
                </a:solidFill>
                <a:latin typeface="Calibri"/>
              </a:rPr>
              <a:t>Learning Center (blog + SEO content hub)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4581144"/>
            <a:ext cx="91440" cy="91440"/>
          </a:xfrm>
          <a:prstGeom prst="rect">
            <a:avLst/>
          </a:prstGeom>
          <a:solidFill>
            <a:srgbClr val="2F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9400" y="451713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4A8"/>
                </a:solidFill>
                <a:latin typeface="Calibri"/>
              </a:rPr>
              <a:t>Interactive estimate calculator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4928616"/>
            <a:ext cx="91440" cy="91440"/>
          </a:xfrm>
          <a:prstGeom prst="rect">
            <a:avLst/>
          </a:prstGeom>
          <a:solidFill>
            <a:srgbClr val="2F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9400" y="48646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4A8"/>
                </a:solidFill>
                <a:latin typeface="Calibri"/>
              </a:rPr>
              <a:t>Video library (time-lapses, testimonials)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5276088"/>
            <a:ext cx="91440" cy="91440"/>
          </a:xfrm>
          <a:prstGeom prst="rect">
            <a:avLst/>
          </a:prstGeom>
          <a:solidFill>
            <a:srgbClr val="2F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29400" y="52120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4A8"/>
                </a:solidFill>
                <a:latin typeface="Calibri"/>
              </a:rPr>
              <a:t>Expanded gallery (60+ images)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5623560"/>
            <a:ext cx="91440" cy="91440"/>
          </a:xfrm>
          <a:prstGeom prst="rect">
            <a:avLst/>
          </a:prstGeom>
          <a:solidFill>
            <a:srgbClr val="2F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29400" y="55595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4A8"/>
                </a:solidFill>
                <a:latin typeface="Calibri"/>
              </a:rPr>
              <a:t>Case studies with outcomes + photos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5971032"/>
            <a:ext cx="91440" cy="91440"/>
          </a:xfrm>
          <a:prstGeom prst="rect">
            <a:avLst/>
          </a:prstGeom>
          <a:solidFill>
            <a:srgbClr val="2F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29400" y="590702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4A8"/>
                </a:solidFill>
                <a:latin typeface="Calibri"/>
              </a:rPr>
              <a:t>Advanced local SEO, geo-targeted keywords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9060"/>
                </a:solidFill>
                <a:latin typeface="Calibri"/>
              </a:rPr>
              <a:t>PHASE 2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Multi-state growth, built on Phase 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4A8"/>
                </a:solidFill>
                <a:latin typeface="Calibri"/>
              </a:rPr>
              <a:t>Phase 2 layers on top of Phase 1. Same WordPress install, same theme, same SEO foundation. No rebuild.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286000"/>
            <a:ext cx="640080" cy="502920"/>
          </a:xfrm>
          <a:prstGeom prst="rect">
            <a:avLst/>
          </a:prstGeom>
          <a:solidFill>
            <a:srgbClr val="2F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28600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30-50 City Pages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5420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4A8"/>
                </a:solidFill>
                <a:latin typeface="Calibri"/>
              </a:rPr>
              <a:t>Annapolis, Baltimore, Columbia, Frederick, Towson + more. Each page targets exact-match local keywords for that market.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971800"/>
            <a:ext cx="640080" cy="502920"/>
          </a:xfrm>
          <a:prstGeom prst="rect">
            <a:avLst/>
          </a:prstGeom>
          <a:solidFill>
            <a:srgbClr val="2F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63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7180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Learning Center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2278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4A8"/>
                </a:solidFill>
                <a:latin typeface="Calibri"/>
              </a:rPr>
              <a:t>Blog + resource hub on restoration tips, maintenance, longevity. Builds topical authority and long-tail search traffic.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657600"/>
            <a:ext cx="640080" cy="502920"/>
          </a:xfrm>
          <a:prstGeom prst="rect">
            <a:avLst/>
          </a:prstGeom>
          <a:solidFill>
            <a:srgbClr val="2F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7490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65760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Neighborhood Pages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9136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4A8"/>
                </a:solidFill>
                <a:latin typeface="Calibri"/>
              </a:rPr>
              <a:t>Hyperlocal targeting below city level. Ranks for "driveway restoration [neighborhood]" searches.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343400"/>
            <a:ext cx="640080" cy="502920"/>
          </a:xfrm>
          <a:prstGeom prst="rect">
            <a:avLst/>
          </a:prstGeom>
          <a:solidFill>
            <a:srgbClr val="2F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4348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34340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Estimate Calculator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5994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4A8"/>
                </a:solidFill>
                <a:latin typeface="Calibri"/>
              </a:rPr>
              <a:t>Interactive tool: enter property size and surface type, get an instant range. Major lead qualifier and trust signal.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029200"/>
            <a:ext cx="640080" cy="502920"/>
          </a:xfrm>
          <a:prstGeom prst="rect">
            <a:avLst/>
          </a:prstGeom>
          <a:solidFill>
            <a:srgbClr val="2F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1206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02920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Video Library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2852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4A8"/>
                </a:solidFill>
                <a:latin typeface="Calibri"/>
              </a:rPr>
              <a:t>Before/after time-lapses, testimonial videos, process walkthroughs. SEO-titled and embedded for engagement.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715000"/>
            <a:ext cx="640080" cy="502920"/>
          </a:xfrm>
          <a:prstGeom prst="rect">
            <a:avLst/>
          </a:prstGeom>
          <a:solidFill>
            <a:srgbClr val="2F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8064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71500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Case Studies + Expanded Gallery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9710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4A8"/>
                </a:solidFill>
                <a:latin typeface="Calibri"/>
              </a:rPr>
              <a:t>Detailed project write-ups with photos, outcomes, and client quotes. Closes larger jobs.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9060"/>
                </a:solidFill>
                <a:latin typeface="Calibri"/>
              </a:rPr>
              <a:t>PROOF OF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Relevant experience, not a resume.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11247120" cy="1463040"/>
          </a:xfrm>
          <a:prstGeom prst="rect">
            <a:avLst/>
          </a:prstGeom>
          <a:solidFill>
            <a:srgbClr val="2A2E2A"/>
          </a:solidFill>
          <a:ln w="9525">
            <a:solidFill>
              <a:srgbClr val="2F5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fortherecordmn.com  --  SEO + Google Analytics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4A8"/>
                </a:solidFill>
                <a:latin typeface="Calibri"/>
              </a:rPr>
              <a:t>SEO architecture and GA4 implementation for a local business: structured data setup, keyword-targeted meta across all pages, Google Search Console configuration, sitemap submission, and GA4 event tracking for user interactions. The same set of tasks as Phase 1 of this project, applied to a local business context.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429000"/>
            <a:ext cx="11247120" cy="1463040"/>
          </a:xfrm>
          <a:prstGeom prst="rect">
            <a:avLst/>
          </a:prstGeom>
          <a:solidFill>
            <a:srgbClr val="2A2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5204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Full-Stack Development Background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4A8"/>
                </a:solidFill>
                <a:latin typeface="Calibri"/>
              </a:rPr>
              <a:t>U.S.-based full-stack developer. U.S. Bank (via Turnberry): React + Python + SQL, internal platform serving 600 users/month, became sole developer and SME within months. Currently at Optum: Angular + .NET/C# + PostgreSQL, 150+ story points delivered, team go-to for AI-assisted development. Portfolio at michaelwegter.com (GitHub: mwegter95).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074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9060"/>
                </a:solidFill>
                <a:latin typeface="Calibri"/>
              </a:rPr>
              <a:t>I build fast, become the expert on what I take on, and communicate plainly about where things stand.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2F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F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Ready to move forward?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B4A8"/>
                </a:solidFill>
                <a:latin typeface="Calibri"/>
              </a:rPr>
              <a:t>The demo is live and clickable right now. Log into the WordPress admin and see exactly how your site will work. Questions, a call, or a go-ahead -- any of those works.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3474720"/>
            <a:ext cx="7772400" cy="822960"/>
          </a:xfrm>
          <a:prstGeom prst="rect">
            <a:avLst/>
          </a:prstGeom>
          <a:solidFill>
            <a:srgbClr val="2A2E2A"/>
          </a:solidFill>
          <a:ln w="9525">
            <a:solidFill>
              <a:srgbClr val="2F5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40" y="356616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A9060"/>
                </a:solidFill>
                <a:latin typeface="Calibri"/>
              </a:rPr>
              <a:t>https://api.michaelwegter.com/demos/maryland-driveway-restore/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023360"/>
            <a:ext cx="7589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847A"/>
                </a:solidFill>
                <a:latin typeface="Calibri"/>
              </a:rPr>
              <a:t>Login: demo_admin / DemoView2026!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Michael Wegter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349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847A"/>
                </a:solidFill>
                <a:latin typeface="Calibri"/>
              </a:rPr>
              <a:t>michaelwegter.com  |  github.com/mwegter95  |  U.S.-based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