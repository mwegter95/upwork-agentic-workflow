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1600"/>
          </a:xfrm>
          <a:prstGeom prst="rect">
            <a:avLst/>
          </a:prstGeom>
          <a:solidFill>
            <a:srgbClr val="F76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88952" cy="101600"/>
          </a:xfrm>
          <a:prstGeom prst="rect">
            <a:avLst/>
          </a:prstGeom>
          <a:solidFill>
            <a:srgbClr val="F76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943600" cy="6858000"/>
          </a:xfrm>
          <a:prstGeom prst="rect">
            <a:avLst/>
          </a:prstGeom>
          <a:solidFill>
            <a:srgbClr val="25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76B10"/>
                </a:solidFill>
                <a:latin typeface="Calibri"/>
              </a:rPr>
              <a:t>PROPOSAL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E8ECF0"/>
                </a:solidFill>
                <a:latin typeface="Calibri"/>
              </a:rPr>
              <a:t>Full-Stack E-Commerce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83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76B10"/>
                </a:solidFill>
                <a:latin typeface="Calibri"/>
              </a:rPr>
              <a:t>Node.js + TypeScript + PostgreSQL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94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A3AD"/>
                </a:solidFill>
                <a:latin typeface="Calibri"/>
              </a:rPr>
              <a:t>Auth / Catalog / Inventory / Orders / REST API / Admin CMS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389120"/>
            <a:ext cx="11091672" cy="12700"/>
          </a:xfrm>
          <a:prstGeom prst="rect">
            <a:avLst/>
          </a:prstGeom>
          <a:solidFill>
            <a:srgbClr val="353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BA3AD"/>
                </a:solidFill>
                <a:latin typeface="Calibri"/>
              </a:rPr>
              <a:t>michaelwegter.com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9377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CF0"/>
                </a:solidFill>
                <a:latin typeface="Calibri"/>
              </a:rPr>
              <a:t>Michael Wegter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3492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A3AD"/>
                </a:solidFill>
                <a:latin typeface="Calibri"/>
              </a:rPr>
              <a:t>$1,700  |  Fixed Price  |  2.5 to 3 weeks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76B10"/>
                </a:solidFill>
                <a:latin typeface="Calibri"/>
              </a:rPr>
              <a:t>LIVE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2651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8ECF0"/>
                </a:solidFill>
                <a:latin typeface="Calibri"/>
              </a:rPr>
              <a:t>Click and try it now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06324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76B10"/>
                </a:solidFill>
                <a:latin typeface="Calibri"/>
              </a:rPr>
              <a:t>michaelwegter.com/demos/
orschell-excavating-e-commerce-full/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8404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A3AD"/>
                </a:solidFill>
                <a:latin typeface="Calibri"/>
              </a:rPr>
              <a:t>Admin: admin@orschellsupply.com / Admin1234!
Customer: demo@customer.com / Demo1234!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76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76B10"/>
                </a:solidFill>
                <a:latin typeface="Calibri"/>
              </a:rPr>
              <a:t>YOUR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CF0"/>
                </a:solidFill>
                <a:latin typeface="Calibri"/>
              </a:rPr>
              <a:t>Backend features you need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5303520" cy="1005840"/>
          </a:xfrm>
          <a:prstGeom prst="rect">
            <a:avLst/>
          </a:prstGeom>
          <a:solidFill>
            <a:srgbClr val="25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" y="16002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CF0"/>
                </a:solidFill>
                <a:latin typeface="Calibri"/>
              </a:rPr>
              <a:t>🔐  User authentication + accounts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19476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A3AD"/>
                </a:solidFill>
                <a:latin typeface="Calibri"/>
              </a:rPr>
              <a:t>JWT roles, register/login, order history, bcrypt passwords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508760"/>
            <a:ext cx="5303520" cy="1005840"/>
          </a:xfrm>
          <a:prstGeom prst="rect">
            <a:avLst/>
          </a:prstGeom>
          <a:solidFill>
            <a:srgbClr val="25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91072" y="16002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CF0"/>
                </a:solidFill>
                <a:latin typeface="Calibri"/>
              </a:rPr>
              <a:t>📦  Product catalog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91072" y="19476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A3AD"/>
                </a:solidFill>
                <a:latin typeface="Calibri"/>
              </a:rPr>
              <a:t>Admin CMS: CRUD, pricing, SKU, categories, featured flag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06040"/>
            <a:ext cx="5303520" cy="1005840"/>
          </a:xfrm>
          <a:prstGeom prst="rect">
            <a:avLst/>
          </a:prstGeom>
          <a:solidFill>
            <a:srgbClr val="25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697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CF0"/>
                </a:solidFill>
                <a:latin typeface="Calibri"/>
              </a:rPr>
              <a:t>📊  Inventory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30449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A3AD"/>
                </a:solidFill>
                <a:latin typeface="Calibri"/>
              </a:rPr>
              <a:t>Per-SKU stock, LOW/OUT-OF-STOCK alerts, atomic decrements on order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6480" y="2606040"/>
            <a:ext cx="5303520" cy="1005840"/>
          </a:xfrm>
          <a:prstGeom prst="rect">
            <a:avLst/>
          </a:prstGeom>
          <a:solidFill>
            <a:srgbClr val="25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91072" y="269748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CF0"/>
                </a:solidFill>
                <a:latin typeface="Calibri"/>
              </a:rPr>
              <a:t>🛒  Order processing workflows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91072" y="30449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A3AD"/>
                </a:solidFill>
                <a:latin typeface="Calibri"/>
              </a:rPr>
              <a:t>Cart persistence, checkout, 4-step status pipeline, customer history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03320"/>
            <a:ext cx="5303520" cy="1005840"/>
          </a:xfrm>
          <a:prstGeom prst="rect">
            <a:avLst/>
          </a:prstGeom>
          <a:solidFill>
            <a:srgbClr val="25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794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CF0"/>
                </a:solidFill>
                <a:latin typeface="Calibri"/>
              </a:rPr>
              <a:t>💳  Payment gateway integration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1422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A3AD"/>
                </a:solidFill>
                <a:latin typeface="Calibri"/>
              </a:rPr>
              <a:t>Stripe-ready checkout form (mocked + labeled in demo)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703320"/>
            <a:ext cx="5303520" cy="1005840"/>
          </a:xfrm>
          <a:prstGeom prst="rect">
            <a:avLst/>
          </a:prstGeom>
          <a:solidFill>
            <a:srgbClr val="25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91072" y="3794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CF0"/>
                </a:solidFill>
                <a:latin typeface="Calibri"/>
              </a:rPr>
              <a:t>🔌  REST API development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91072" y="41422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A3AD"/>
                </a:solidFill>
                <a:latin typeface="Calibri"/>
              </a:rPr>
              <a:t>22 typed Express endpoints, input validation, error handling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00600"/>
            <a:ext cx="5303520" cy="1005840"/>
          </a:xfrm>
          <a:prstGeom prst="rect">
            <a:avLst/>
          </a:prstGeom>
          <a:solidFill>
            <a:srgbClr val="25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1792" y="48920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CF0"/>
                </a:solidFill>
                <a:latin typeface="Calibri"/>
              </a:rPr>
              <a:t>⚡  Performance optimization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" y="52395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A3AD"/>
                </a:solidFill>
                <a:latin typeface="Calibri"/>
              </a:rPr>
              <a:t>Indexed queries, WAL mode, connection pooling (pg-pool in prod)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800600"/>
            <a:ext cx="5303520" cy="1005840"/>
          </a:xfrm>
          <a:prstGeom prst="rect">
            <a:avLst/>
          </a:prstGeom>
          <a:solidFill>
            <a:srgbClr val="25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48920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E8ECF0"/>
                </a:solidFill>
                <a:latin typeface="Calibri"/>
              </a:rPr>
              <a:t>🗄️  Database improvements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91072" y="52395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A3AD"/>
                </a:solidFill>
                <a:latin typeface="Calibri"/>
              </a:rPr>
              <a:t>Normalized schema, FKs, CHECK constraints, Postgres-compatible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A3AD"/>
                </a:solidFill>
                <a:latin typeface="Calibri"/>
              </a:rPr>
              <a:t>All 8 requirements traceable to working features in the live demo.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76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76B10"/>
                </a:solidFill>
                <a:latin typeface="Calibri"/>
              </a:rP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CF0"/>
                </a:solidFill>
                <a:latin typeface="Calibri"/>
              </a:rPr>
              <a:t>Built before submitting this proposal</a:t>
            </a:r>
          </a:p>
        </p:txBody>
      </p:sp>
      <p:pic>
        <p:nvPicPr>
          <p:cNvPr id="5" name="Picture 4" descr="01-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08760"/>
            <a:ext cx="539496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76402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BA3AD"/>
                </a:solidFill>
                <a:latin typeface="Calibri"/>
              </a:rPr>
              <a:t>Home / Hero</a:t>
            </a:r>
          </a:p>
        </p:txBody>
      </p:sp>
      <p:pic>
        <p:nvPicPr>
          <p:cNvPr id="7" name="Picture 6" descr="02-sh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08760"/>
            <a:ext cx="5394960" cy="3200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476402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BA3AD"/>
                </a:solidFill>
                <a:latin typeface="Calibri"/>
              </a:rPr>
              <a:t>Shop / Product Catalog</a:t>
            </a:r>
          </a:p>
        </p:txBody>
      </p:sp>
      <p:pic>
        <p:nvPicPr>
          <p:cNvPr id="9" name="Picture 8" descr="06-admin-dash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5303520"/>
            <a:ext cx="5394960" cy="3200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855878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BA3AD"/>
                </a:solidFill>
                <a:latin typeface="Calibri"/>
              </a:rPr>
              <a:t>Admin Dashboard</a:t>
            </a:r>
          </a:p>
        </p:txBody>
      </p:sp>
      <p:pic>
        <p:nvPicPr>
          <p:cNvPr id="11" name="Picture 10" descr="07-admin-product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5303520"/>
            <a:ext cx="5394960" cy="3200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0" y="8558784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9BA3AD"/>
                </a:solidFill>
                <a:latin typeface="Calibri"/>
              </a:rPr>
              <a:t>Admin Product CMS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76B10"/>
                </a:solidFill>
                <a:latin typeface="Calibri"/>
              </a:rPr>
              <a:t>michaelwegter.com/demos/orschell-excavating-e-commerce-full/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76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76B10"/>
                </a:solidFill>
                <a:latin typeface="Calibri"/>
              </a:rP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CF0"/>
                </a:solidFill>
                <a:latin typeface="Calibri"/>
              </a:rPr>
              <a:t>Your exact stack. Zero ramp-up.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303520" cy="2240280"/>
          </a:xfrm>
          <a:prstGeom prst="rect">
            <a:avLst/>
          </a:prstGeom>
          <a:solidFill>
            <a:srgbClr val="25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54864" cy="2240280"/>
          </a:xfrm>
          <a:prstGeom prst="rect">
            <a:avLst/>
          </a:prstGeom>
          <a:solidFill>
            <a:srgbClr val="F76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6642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76B10"/>
                </a:solidFill>
                <a:latin typeface="Calibri"/>
              </a:rPr>
              <a:t>Backend (as specified)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057400"/>
            <a:ext cx="5029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A3AD"/>
                </a:solidFill>
                <a:latin typeface="Calibri"/>
              </a:rPr>
              <a:t>Node.js 22  (LTS)
TypeScript (strict)
Express 4  (REST router)
PostgreSQL schema (SQLite in demo; pg + pg-pool in prod)
JWT authentication  (jsonwebtoken)
bcrypt password hashing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554480"/>
            <a:ext cx="5303520" cy="2240280"/>
          </a:xfrm>
          <a:prstGeom prst="rect">
            <a:avLst/>
          </a:prstGeom>
          <a:solidFill>
            <a:srgbClr val="25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554480"/>
            <a:ext cx="54864" cy="2240280"/>
          </a:xfrm>
          <a:prstGeom prst="rect">
            <a:avLst/>
          </a:prstGeom>
          <a:solidFill>
            <a:srgbClr val="F76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66420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76B10"/>
                </a:solidFill>
                <a:latin typeface="Calibri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2057400"/>
            <a:ext cx="5029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A3AD"/>
                </a:solidFill>
                <a:latin typeface="Calibri"/>
              </a:rPr>
              <a:t>Vite 5 + React 18 + TypeScript
React Router 6  (SPA routing)
Recharts  (admin analytics)
Axios  (typed API client)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931920"/>
            <a:ext cx="5303520" cy="2240280"/>
          </a:xfrm>
          <a:prstGeom prst="rect">
            <a:avLst/>
          </a:prstGeom>
          <a:solidFill>
            <a:srgbClr val="25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931920"/>
            <a:ext cx="54864" cy="2240280"/>
          </a:xfrm>
          <a:prstGeom prst="rect">
            <a:avLst/>
          </a:prstGeom>
          <a:solidFill>
            <a:srgbClr val="F76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40416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76B10"/>
                </a:solidFill>
                <a:latin typeface="Calibri"/>
              </a:rPr>
              <a:t>Database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434840"/>
            <a:ext cx="5029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A3AD"/>
                </a:solidFill>
                <a:latin typeface="Calibri"/>
              </a:rPr>
              <a:t>Normalized: users, products, categories,
inventory, cart_items, orders, order_items
FKs, CHECK constraints, covering indexes
WAL journal mode; Postgres-identical SQL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931920"/>
            <a:ext cx="5303520" cy="2240280"/>
          </a:xfrm>
          <a:prstGeom prst="rect">
            <a:avLst/>
          </a:prstGeom>
          <a:solidFill>
            <a:srgbClr val="25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931920"/>
            <a:ext cx="54864" cy="2240280"/>
          </a:xfrm>
          <a:prstGeom prst="rect">
            <a:avLst/>
          </a:prstGeom>
          <a:solidFill>
            <a:srgbClr val="F76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404164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76B10"/>
                </a:solidFill>
                <a:latin typeface="Calibri"/>
              </a:rPr>
              <a:t>Production path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4434840"/>
            <a:ext cx="502920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A3AD"/>
                </a:solidFill>
                <a:latin typeface="Calibri"/>
              </a:rPr>
              <a:t>Swap node:sqlite -&gt; pg + pg-pool
Schema unchanged (no SQLite-isms)
Add Stripe SDK for payment gateway
Rate limiting, helmet, CORS hardening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76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76B10"/>
                </a:solidFill>
                <a:latin typeface="Calibri"/>
              </a:rPr>
              <a:t>ADMIN CMS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CF0"/>
                </a:solidFill>
                <a:latin typeface="Calibri"/>
              </a:rPr>
              <a:t>Full catalog + inventory + order management</a:t>
            </a:r>
          </a:p>
        </p:txBody>
      </p:sp>
      <p:pic>
        <p:nvPicPr>
          <p:cNvPr id="5" name="Picture 4" descr="06-admin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08760"/>
            <a:ext cx="5394960" cy="3108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46725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A3AD"/>
                </a:solidFill>
                <a:latin typeface="Calibri"/>
              </a:rPr>
              <a:t>Dashboard: Revenue KPIs + 30-day chart</a:t>
            </a:r>
          </a:p>
        </p:txBody>
      </p:sp>
      <p:pic>
        <p:nvPicPr>
          <p:cNvPr id="7" name="Picture 6" descr="07-admin-produ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508760"/>
            <a:ext cx="539496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467258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A3AD"/>
                </a:solidFill>
                <a:latin typeface="Calibri"/>
              </a:rPr>
              <a:t>Products: CRUD  (create / edit / deactivate)</a:t>
            </a:r>
          </a:p>
        </p:txBody>
      </p:sp>
      <p:pic>
        <p:nvPicPr>
          <p:cNvPr id="9" name="Picture 8" descr="08-admin-ord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5212080"/>
            <a:ext cx="5394960" cy="3108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65760" y="837590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A3AD"/>
                </a:solidFill>
                <a:latin typeface="Calibri"/>
              </a:rPr>
              <a:t>Orders: Status pipeline (Pending -&gt; Delivered)</a:t>
            </a:r>
          </a:p>
        </p:txBody>
      </p:sp>
      <p:pic>
        <p:nvPicPr>
          <p:cNvPr id="11" name="Picture 10" descr="09-admin-invento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5212080"/>
            <a:ext cx="5394960" cy="31089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35040" y="8375904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A3AD"/>
                </a:solidFill>
                <a:latin typeface="Calibri"/>
              </a:rPr>
              <a:t>Inventory: Stock levels + inline edit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76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76B10"/>
                </a:solidFill>
                <a:latin typeface="Calibri"/>
              </a:rPr>
              <a:t>DELIVERY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CF0"/>
                </a:solidFill>
                <a:latin typeface="Calibri"/>
              </a:rPr>
              <a:t>2.5 to 3 weeks  |  $1,700 fixed price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1005840" cy="1097280"/>
          </a:xfrm>
          <a:prstGeom prst="rect">
            <a:avLst/>
          </a:prstGeom>
          <a:solidFill>
            <a:srgbClr val="F76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8ECF0"/>
                </a:solidFill>
                <a:latin typeface="Calibri"/>
              </a:rPr>
              <a:t>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1640" y="171907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CF0"/>
                </a:solidFill>
                <a:latin typeface="Calibri"/>
              </a:rPr>
              <a:t>Audit +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12140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A3AD"/>
                </a:solidFill>
                <a:latin typeface="Calibri"/>
              </a:rPr>
              <a:t>Review existing codebase. Set up Postgres, migrate schema, wire JWT auth, stub remaining endpoints. TypeScript strict mode throughout.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017520"/>
            <a:ext cx="1005840" cy="1097280"/>
          </a:xfrm>
          <a:prstGeom prst="rect">
            <a:avLst/>
          </a:prstGeom>
          <a:solidFill>
            <a:srgbClr val="F76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3375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8ECF0"/>
                </a:solidFill>
                <a:latin typeface="Calibri"/>
              </a:rPr>
              <a:t>Week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309067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CF0"/>
                </a:solidFill>
                <a:latin typeface="Calibri"/>
              </a:rPr>
              <a:t>Core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49300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A3AD"/>
                </a:solidFill>
                <a:latin typeface="Calibri"/>
              </a:rPr>
              <a:t>Product catalog API, inventory decrement, cart persistence, full order pipeline. Admin CMS endpoints. Stripe integration if approved.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389120"/>
            <a:ext cx="1005840" cy="1097280"/>
          </a:xfrm>
          <a:prstGeom prst="rect">
            <a:avLst/>
          </a:prstGeom>
          <a:solidFill>
            <a:srgbClr val="F76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709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E8ECF0"/>
                </a:solidFill>
                <a:latin typeface="Calibri"/>
              </a:rPr>
              <a:t>Week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446227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ECF0"/>
                </a:solidFill>
                <a:latin typeface="Calibri"/>
              </a:rPr>
              <a:t>Performance + QA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864608"/>
            <a:ext cx="9875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BA3AD"/>
                </a:solidFill>
                <a:latin typeface="Calibri"/>
              </a:rPr>
              <a:t>Query analysis, indexes, connection pooling, rate limiting, input validation. Integration tests. Frontend wiring. Documented handoff.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806440"/>
            <a:ext cx="11247120" cy="777240"/>
          </a:xfrm>
          <a:prstGeom prst="rect">
            <a:avLst/>
          </a:prstGeom>
          <a:solidFill>
            <a:srgbClr val="25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5806440"/>
            <a:ext cx="54864" cy="777240"/>
          </a:xfrm>
          <a:prstGeom prst="rect">
            <a:avLst/>
          </a:prstGeom>
          <a:solidFill>
            <a:srgbClr val="F76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CF0"/>
                </a:solidFill>
                <a:latin typeface="Calibri"/>
              </a:rPr>
              <a:t>$1,700 fixed  |  All 8 features  |  Node.js + TypeScript + PostgreSQL  |  Documented handoff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6200"/>
          </a:xfrm>
          <a:prstGeom prst="rect">
            <a:avLst/>
          </a:prstGeom>
          <a:solidFill>
            <a:srgbClr val="F76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76B10"/>
                </a:solidFill>
                <a:latin typeface="Calibri"/>
              </a:rPr>
              <a:t>WHY 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8ECF0"/>
                </a:solidFill>
                <a:latin typeface="Calibri"/>
              </a:rPr>
              <a:t>Shipped it before. Can own it fast.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5303520" cy="1920240"/>
          </a:xfrm>
          <a:prstGeom prst="rect">
            <a:avLst/>
          </a:prstGeom>
          <a:solidFill>
            <a:srgbClr val="25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4864" cy="1920240"/>
          </a:xfrm>
          <a:prstGeom prst="rect">
            <a:avLst/>
          </a:prstGeom>
          <a:solidFill>
            <a:srgbClr val="F76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CF0"/>
                </a:solidFill>
                <a:latin typeface="Calibri"/>
              </a:rPr>
              <a:t>U.S. Bank / TDAAS  (2.5 years)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214884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A3AD"/>
                </a:solidFill>
                <a:latin typeface="Calibri"/>
              </a:rPr>
              <a:t>Became sole developer and SME on a React + Python + SQL internal platform within months. 60k+ LOC. Led the Azure Cloud migration. If something broke, I fixed it, usually within 10 minutes.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600200"/>
            <a:ext cx="5303520" cy="1920240"/>
          </a:xfrm>
          <a:prstGeom prst="rect">
            <a:avLst/>
          </a:prstGeom>
          <a:solidFill>
            <a:srgbClr val="25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600200"/>
            <a:ext cx="54864" cy="1920240"/>
          </a:xfrm>
          <a:prstGeom prst="rect">
            <a:avLst/>
          </a:prstGeom>
          <a:solidFill>
            <a:srgbClr val="F76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91072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CF0"/>
                </a:solidFill>
                <a:latin typeface="Calibri"/>
              </a:rPr>
              <a:t>Optum RHRP 4  (current)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214884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A3AD"/>
                </a:solidFill>
                <a:latin typeface="Calibri"/>
              </a:rPr>
              <a:t>Angular + .NET/C# + PostgreSQL enterprise project. Onion architecture, strict Agile. 150+ story points delivered. Go-to for AI-assisted development. Contract started April 2026.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03320"/>
            <a:ext cx="5303520" cy="1920240"/>
          </a:xfrm>
          <a:prstGeom prst="rect">
            <a:avLst/>
          </a:prstGeom>
          <a:solidFill>
            <a:srgbClr val="25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3703320"/>
            <a:ext cx="54864" cy="1920240"/>
          </a:xfrm>
          <a:prstGeom prst="rect">
            <a:avLst/>
          </a:prstGeom>
          <a:solidFill>
            <a:srgbClr val="F76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CF0"/>
                </a:solidFill>
                <a:latin typeface="Calibri"/>
              </a:rPr>
              <a:t>TypeScript + Node.js daily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" y="425196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A3AD"/>
                </a:solidFill>
                <a:latin typeface="Calibri"/>
              </a:rPr>
              <a:t>TypeScript is my primary backend language. The 22-endpoint API here was written without scaffolding, strict mode throughout, fully typed request/response interfaces.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703320"/>
            <a:ext cx="5303520" cy="1920240"/>
          </a:xfrm>
          <a:prstGeom prst="rect">
            <a:avLst/>
          </a:prstGeom>
          <a:solidFill>
            <a:srgbClr val="252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6480" y="3703320"/>
            <a:ext cx="54864" cy="1920240"/>
          </a:xfrm>
          <a:prstGeom prst="rect">
            <a:avLst/>
          </a:prstGeom>
          <a:solidFill>
            <a:srgbClr val="F76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91072" y="3840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ECF0"/>
                </a:solidFill>
                <a:latin typeface="Calibri"/>
              </a:rPr>
              <a:t>Full-stack portfolio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91072" y="4251960"/>
            <a:ext cx="50292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A3AD"/>
                </a:solidFill>
                <a:latin typeface="Calibri"/>
              </a:rPr>
              <a:t>Multiple shipped apps at michaelwegter.com: gallery planner, SEO analyzer, Spotify/Apple Music tools. Code at github.com/mwegter95. Same quality as what you just saw in the demo.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1600"/>
          </a:xfrm>
          <a:prstGeom prst="rect">
            <a:avLst/>
          </a:prstGeom>
          <a:solidFill>
            <a:srgbClr val="F76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6400"/>
            <a:ext cx="12188952" cy="101600"/>
          </a:xfrm>
          <a:prstGeom prst="rect">
            <a:avLst/>
          </a:prstGeom>
          <a:solidFill>
            <a:srgbClr val="F76B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76B10"/>
                </a:solidFill>
                <a:latin typeface="Calibri"/>
              </a:rPr>
              <a:t>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14884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E8ECF0"/>
                </a:solidFill>
                <a:latin typeface="Calibri"/>
              </a:rPr>
              <a:t>If the demo looks close to what you're building, I'd love a short call to walk through your existing codebase and nail down a delivery plan.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8ECF0"/>
                </a:solidFill>
                <a:latin typeface="Calibri"/>
              </a:rPr>
              <a:t>Michael Wegter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1605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BA3AD"/>
                </a:solidFill>
                <a:latin typeface="Calibri"/>
              </a:rPr>
              <a:t>michaelwegter.com  |  github.com/mwegter95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76B10"/>
                </a:solidFill>
                <a:latin typeface="Calibri"/>
              </a:rPr>
              <a:t>Live demo: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76B10"/>
                </a:solidFill>
                <a:latin typeface="Calibri"/>
              </a:rPr>
              <a:t>michaelwegter.com/demos/orschell-excavating-e-commerce-full/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BA3AD"/>
                </a:solidFill>
                <a:latin typeface="Calibri"/>
              </a:rPr>
              <a:t>Admin: admin@orschellsupply.com / Admin1234!    Customer: demo@customer.com / Demo1234!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