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JetBrains Mono"/>
              </a:rPr>
              <a:t>WORSHIP PLATFORM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0EFE9"/>
                </a:solidFill>
                <a:latin typeface="Inter"/>
              </a:rPr>
              <a:t>Sanctuary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7A86"/>
                </a:solidFill>
                <a:latin typeface="Inter"/>
              </a:rPr>
              <a:t>Worship Playback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80360"/>
            <a:ext cx="228600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FE9"/>
                </a:solidFill>
                <a:latin typeface="Inter"/>
              </a:rPr>
              <a:t>Michael Wegter</a:t>
            </a:r>
          </a:p>
          <a:p>
            <a:pPr algn="l"/>
            <a:r>
              <a:rPr sz="1300" b="0">
                <a:solidFill>
                  <a:srgbClr val="7C7A86"/>
                </a:solidFill>
                <a:latin typeface="Inter"/>
              </a:rPr>
              <a:t>Audio Software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A86"/>
                </a:solidFill>
                <a:latin typeface="Inter"/>
              </a:rPr>
              <a:t>Live demo: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JetBrains Mono"/>
              </a:rPr>
              <a:t>michaelwegter.com/demos/audio-software-engineer-needed-for/</a:t>
            </a:r>
          </a:p>
        </p:txBody>
      </p:sp>
      <p:pic>
        <p:nvPicPr>
          <p:cNvPr id="10" name="Picture 9" descr="02-playback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731520"/>
            <a:ext cx="50292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JetBrains Mono"/>
              </a:rPr>
              <a:t>NINE PROBLEM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EFE9"/>
                </a:solidFill>
                <a:latin typeface="Inter"/>
              </a:rPr>
              <a:t>Every issue you listed, addressed in the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5661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Playback transport reliability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3672" y="1234440"/>
            <a:ext cx="35661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14173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4356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Section navigation behavior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4424" y="1234440"/>
            <a:ext cx="35661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4" y="14173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14356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Audio synchronization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68296"/>
            <a:ext cx="35661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51176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69464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Click track timing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3672" y="2368296"/>
            <a:ext cx="35661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2551176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569464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Guide cue timing and triggering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64424" y="2368296"/>
            <a:ext cx="35661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4" y="2551176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569464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Stem routing and playback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02152"/>
            <a:ext cx="35661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85032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703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Mixer channel behavior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3502152"/>
            <a:ext cx="35661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3685032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703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Count-in functionality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64424" y="3502152"/>
            <a:ext cx="35661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4" y="3685032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3703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Audio engine stability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7A86"/>
                </a:solidFill>
                <a:latin typeface="JetBrains Mono"/>
              </a:rPr>
              <a:t>Each implemented with sample-accurate Web Audio API scheduling.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JetBrains Mono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EFE9"/>
                </a:solidFill>
                <a:latin typeface="Inter"/>
              </a:rPr>
              <a:t>Sanctuary Worship Playback Engine</a:t>
            </a:r>
          </a:p>
        </p:txBody>
      </p:sp>
      <p:pic>
        <p:nvPicPr>
          <p:cNvPr id="5" name="Picture 4" descr="01-initial-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7A86"/>
                </a:solidFill>
                <a:latin typeface="JetBrains Mono"/>
              </a:rPr>
              <a:t>Transport  |  Stems  |  Section Nav  |  Click Track  |  Count-In  |  A/B Loop  |  Full Mixer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michaelwegter.com/demos/audio-software-engineer-needed-for/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JetBrains Mono"/>
              </a:rPr>
              <a:t>DEMO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EFE9"/>
                </a:solidFill>
                <a:latin typeface="Inter"/>
              </a:rPr>
              <a:t>What the demo implements</a:t>
            </a:r>
          </a:p>
        </p:txBody>
      </p:sp>
      <p:pic>
        <p:nvPicPr>
          <p:cNvPr id="5" name="Picture 4" descr="04-section-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486400" cy="3749039"/>
          </a:xfrm>
          <a:prstGeom prst="rect">
            <a:avLst/>
          </a:prstGeom>
        </p:spPr>
      </p:pic>
      <p:pic>
        <p:nvPicPr>
          <p:cNvPr id="6" name="Picture 5" descr="05-mixer-s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48640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29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7A86"/>
                </a:solidFill>
                <a:latin typeface="Inter"/>
              </a:rPr>
              <a:t>Section navigation with BPM-locked seek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029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7A86"/>
                </a:solidFill>
                <a:latin typeface="Inter"/>
              </a:rPr>
              <a:t>6-stem mixer: drums, bass, keys, acoustic, vocals, 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7A86"/>
                </a:solidFill>
                <a:latin typeface="JetBrains Mono"/>
              </a:rPr>
              <a:t>Wilson-pattern lookahead scheduler. OfflineAudioContext stem synthesis. Sample-accurate transport.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JetBrains Mono"/>
              </a:rPr>
              <a:t>MUSIC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EFE9"/>
                </a:solidFill>
                <a:latin typeface="Inter"/>
              </a:rPr>
              <a:t>Musician, DAW operator, and live audio professional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3949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FE9"/>
                </a:solidFill>
                <a:latin typeface="Inter"/>
              </a:rPr>
              <a:t>Bachelor of Music, St. Olaf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A86"/>
                </a:solidFill>
                <a:latin typeface="Inter"/>
              </a:rPr>
              <a:t>Formal music theory, ear training, composition, and audio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FE9"/>
                </a:solidFill>
                <a:latin typeface="Inter"/>
              </a:rPr>
              <a:t>DAWs since the fifth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A86"/>
                </a:solidFill>
                <a:latin typeface="Inter"/>
              </a:rPr>
              <a:t>Fifteen-plus years with Ableton Live, Logic Pro, and Pro Tools.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03320"/>
            <a:ext cx="53949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947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FE9"/>
                </a:solidFill>
                <a:latin typeface="Inter"/>
              </a:rPr>
              <a:t>Professional Wedding DJ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A86"/>
                </a:solidFill>
                <a:latin typeface="Inter"/>
              </a:rPr>
              <a:t>Live events require audio that never fails. I am obsessed with getting it exactly right.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92040"/>
            <a:ext cx="5394960" cy="100584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FE9"/>
                </a:solidFill>
                <a:latin typeface="Inter"/>
              </a:rPr>
              <a:t>Built Python MIDI Bridge for Live Gigs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A86"/>
                </a:solidFill>
                <a:latin typeface="Inter"/>
              </a:rPr>
              <a:t>Real-time MIDI signal processing, running in production at every performance. Zero failures.</a:t>
            </a:r>
          </a:p>
        </p:txBody>
      </p:sp>
      <p:pic>
        <p:nvPicPr>
          <p:cNvPr id="17" name="Picture 16" descr="03-waveform-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394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JetBrains Mono"/>
              </a:rPr>
              <a:t>ENGINEERING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EFE9"/>
                </a:solidFill>
                <a:latin typeface="Inter"/>
              </a:rPr>
              <a:t>Full-stack engineer, real-time audio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394960" cy="1874519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Inter"/>
              </a:rPr>
              <a:t>Optum / RHRP 4 (Current)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Angular, .NET/C#, PostgreSQL, onion architecture. 150+ story points. Team AI lead.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5394960" cy="1874519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Inter"/>
              </a:rPr>
              <a:t>U.S. Bank via Turnberry (2.5 years)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4767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React, Python, SQL, Java. Became sole dev and SME on 60,000-line platform in 2 months.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29000"/>
            <a:ext cx="5394960" cy="1874519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93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Inter"/>
              </a:rPr>
              <a:t>Python MIDI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50791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rtmidi, custom signal processing, real-time mapping. Production-deployed for live gigs.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429000"/>
            <a:ext cx="5394960" cy="1874519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593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Inter"/>
              </a:rPr>
              <a:t>Sanctuary Demo (this proposal)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50791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FE9"/>
                </a:solidFill>
                <a:latin typeface="Inter"/>
              </a:rPr>
              <a:t>Web Audio API, OfflineAudioContext, GainNode, StereoPannerNode, Wilson lookahead scheduler.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JetBrains Mono"/>
              </a:rPr>
              <a:t>AUDIT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EFE9"/>
                </a:solidFill>
                <a:latin typeface="Inter"/>
              </a:rPr>
              <a:t>Diagnose first. Fix what is confirmed broken.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2651760" cy="402336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FE9"/>
                </a:solidFill>
                <a:latin typeface="Inter"/>
              </a:rPr>
              <a:t>Review the codebase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A86"/>
                </a:solidFill>
                <a:latin typeface="Inter"/>
              </a:rPr>
              <a:t>Read the full audio architecture: engine, scheduler, transport, and routing. Map the signal flow before touching anything.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280160"/>
            <a:ext cx="2651760" cy="402336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463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FE9"/>
                </a:solidFill>
                <a:latin typeface="Inter"/>
              </a:rPr>
              <a:t>Reproduce and root-cause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743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A86"/>
                </a:solidFill>
                <a:latin typeface="Inter"/>
              </a:rPr>
              <a:t>Systematically reproduce each of your nine issues. Trace each one to its specific root cause. Document before writing fixes.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280160"/>
            <a:ext cx="2651760" cy="402336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463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FE9"/>
                </a:solidFill>
                <a:latin typeface="Inter"/>
              </a:rPr>
              <a:t>Fix high-priority bugs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743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A86"/>
                </a:solidFill>
                <a:latin typeface="Inter"/>
              </a:rPr>
              <a:t>Targeted, surgical patches for transport reliability, sync drift, and timing issues. Each fix tested in isolation.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4" y="1280160"/>
            <a:ext cx="2651760" cy="4023360"/>
          </a:xfrm>
          <a:prstGeom prst="rect">
            <a:avLst/>
          </a:prstGeom>
          <a:solidFill>
            <a:srgbClr val="181822"/>
          </a:solidFill>
          <a:ln w="635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1463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FE9"/>
                </a:solidFill>
                <a:latin typeface="Inter"/>
              </a:rPr>
              <a:t>Deliver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743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A86"/>
                </a:solidFill>
                <a:latin typeface="Inter"/>
              </a:rPr>
              <a:t>Written analysis of root causes, fixes applied, and architectural improvements for the platform's next stage.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JetBrains Mono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FE9"/>
                </a:solidFill>
                <a:latin typeface="Inter"/>
              </a:rPr>
              <a:t>Let's talk about your codebase.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7A86"/>
                </a:solidFill>
                <a:latin typeface="Inter"/>
              </a:rPr>
              <a:t>30 minutes to walk through the nine issues and look at the relevant parts of the architecture. I will give you an honest read on what I see before any engagement starts.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7A86"/>
                </a:solidFill>
                <a:latin typeface="Inter"/>
              </a:rPr>
              <a:t>Live demo: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B82F6"/>
                </a:solidFill>
                <a:latin typeface="JetBrains Mono"/>
              </a:rPr>
              <a:t>michaelwegter.com/demos/audio-software-engineer-needed-for/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7A86"/>
                </a:solidFill>
                <a:latin typeface="Inter"/>
              </a:rPr>
              <a:t>Portfolio: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154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B82F6"/>
                </a:solidFill>
                <a:latin typeface="JetBrains Mono"/>
              </a:rPr>
              <a:t>michaelwegter.com/work-samples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36576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FE9"/>
                </a:solidFill>
                <a:latin typeface="Inter"/>
              </a:rPr>
              <a:t>Michael Wegter</a:t>
            </a:r>
          </a:p>
          <a:p>
            <a:pPr algn="l"/>
            <a:r>
              <a:rPr sz="1200" b="0">
                <a:solidFill>
                  <a:srgbClr val="7C7A86"/>
                </a:solidFill>
                <a:latin typeface="Inter"/>
              </a:rPr>
              <a:t>Audio Software Engineer  |  Musician  |  Full-Stack Engineer</a:t>
            </a:r>
          </a:p>
        </p:txBody>
      </p:sp>
      <p:pic>
        <p:nvPicPr>
          <p:cNvPr id="12" name="Picture 11" descr="02-playback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