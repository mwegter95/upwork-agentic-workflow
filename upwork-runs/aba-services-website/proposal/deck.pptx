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7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EDE4"/>
                </a:solidFill>
                <a:latin typeface="Space Grotesk"/>
              </a:rPr>
              <a:t>Michael Wegter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PROPOSAL  /  UPWORK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4"/>
                </a:solidFill>
                <a:latin typeface="Space Grotesk"/>
              </a:rPr>
              <a:t>ABA Services Website,</a:t>
            </a:r>
          </a:p>
          <a:p>
            <a:pPr algn="l"/>
            <a:r>
              <a:rPr sz="5400" b="1">
                <a:solidFill>
                  <a:srgbClr val="F2EDE4"/>
                </a:solidFill>
                <a:latin typeface="Space Grotesk"/>
              </a:rPr>
              <a:t>Design and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731520" cy="381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8A8898"/>
                </a:solidFill>
                <a:latin typeface="Space Grotesk"/>
              </a:rPr>
              <a:t>A warm, trustworthy clinic site that families can scan in ten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B4C8"/>
                </a:solidFill>
                <a:latin typeface="JetBrains Mono"/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8B820"/>
                </a:solidFill>
                <a:latin typeface="Space Grotesk"/>
              </a:rPr>
              <a:t>https://michaelwegter.com/work-samples/aba-services-website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898"/>
                </a:solidFill>
                <a:latin typeface="JetBrains Mono"/>
              </a:rPr>
              <a:t>MICHAEL WEGTER  /  PROPOSAL  /  ABA SERVICES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8898"/>
                </a:solidFill>
                <a:latin typeface="JetBrains Mono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THE DEMO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2EDE4"/>
                </a:solidFill>
                <a:latin typeface="Space Grotesk"/>
              </a:rPr>
              <a:t>One link. Real interactions. Built for this posting.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1653540"/>
            <a:ext cx="8763000" cy="4373880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86868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0" y="1783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CLICK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0574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EDE4"/>
                </a:solidFill>
                <a:latin typeface="Space Grotesk"/>
              </a:rPr>
              <a:t>Open a service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4688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898"/>
                </a:solidFill>
                <a:latin typeface="Inter"/>
              </a:rPr>
              <a:t>Each card expands to show age range and what to expect.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3383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THEN 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36576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EDE4"/>
                </a:solidFill>
                <a:latin typeface="Space Grotesk"/>
              </a:rPr>
              <a:t>The intake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40690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898"/>
                </a:solidFill>
                <a:latin typeface="Inter"/>
              </a:rPr>
              <a:t>Inline validation, accessible labels, privacy note above submit.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5029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B4C8"/>
                </a:solidFill>
                <a:latin typeface="JetBrains Mono"/>
              </a:rPr>
              <a:t>LIVE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5303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B820"/>
                </a:solidFill>
                <a:latin typeface="JetBrains Mono"/>
              </a:rPr>
              <a:t>michaelwegter.com/work-samples/aba-services-website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898"/>
                </a:solidFill>
                <a:latin typeface="JetBrains Mono"/>
              </a:rPr>
              <a:t>MICHAEL WEGTER  /  PROPOSAL  /  ABA SERVICES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8898"/>
                </a:solidFill>
                <a:latin typeface="JetBrains Mono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REQUIREMENTS I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2EDE4"/>
                </a:solidFill>
                <a:latin typeface="Space Grotesk"/>
              </a:rPr>
              <a:t>Every line in your posting maps to a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B820"/>
                </a:solidFill>
                <a:latin typeface="JetBrains Mono"/>
              </a:rPr>
              <a:t>REQ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B820"/>
                </a:solidFill>
                <a:latin typeface="JetBrains Mono"/>
              </a:rPr>
              <a:t>WHAT YOU ASKED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B820"/>
                </a:solidFill>
                <a:latin typeface="JetBrains Mono"/>
              </a:rPr>
              <a:t>WHERE IT LIVES IN THE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11247120" cy="12700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B820"/>
                </a:solidFill>
                <a:latin typeface="JetBrains Mono"/>
              </a:rPr>
              <a:t>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Professional ABA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898"/>
                </a:solidFill>
                <a:latin typeface="Inter"/>
              </a:rPr>
              <a:t>Entire single-page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11247120" cy="6350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B820"/>
                </a:solidFill>
                <a:latin typeface="JetBrains Mono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089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Visually appealing, communicates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898"/>
                </a:solidFill>
                <a:latin typeface="Inter"/>
              </a:rPr>
              <a:t>Hero, services strip, warm palette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11247120" cy="6350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B820"/>
                </a:solidFill>
                <a:latin typeface="JetBrains Mono"/>
              </a:rPr>
              <a:t>R3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03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User-friendly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03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898"/>
                </a:solidFill>
                <a:latin typeface="Inter"/>
              </a:rPr>
              <a:t>Anchor nav, accessible form, FAQ accordion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0520"/>
            <a:ext cx="11247120" cy="6350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B820"/>
                </a:solidFill>
                <a:latin typeface="JetBrains Mono"/>
              </a:rPr>
              <a:t>R4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976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Communicates services clearly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898"/>
                </a:solidFill>
                <a:latin typeface="Inter"/>
              </a:rPr>
              <a:t>Services explorer cards with age ranges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11247120" cy="6350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B820"/>
                </a:solidFill>
                <a:latin typeface="JetBrains Mono"/>
              </a:rPr>
              <a:t>R5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8920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Design and dev integrated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920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898"/>
                </a:solidFill>
                <a:latin typeface="Inter"/>
              </a:rPr>
              <a:t>One artifact, one developer, one timeline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247120" cy="6350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48640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8B820"/>
                </a:solidFill>
                <a:latin typeface="JetBrains Mono"/>
              </a:rPr>
              <a:t>R6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4864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Graphic design elements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864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898"/>
                </a:solidFill>
                <a:latin typeface="Inter"/>
              </a:rPr>
              <a:t>Custom SVG logo, hero illustration, icons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43600"/>
            <a:ext cx="11247120" cy="6350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898"/>
                </a:solidFill>
                <a:latin typeface="JetBrains Mono"/>
              </a:rPr>
              <a:t>MICHAEL WEGTER  /  PROPOSAL  /  ABA SERVICES WEBSITE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8898"/>
                </a:solidFill>
                <a:latin typeface="JetBrains Mono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HOW THE FORM RESPECTS HIPAA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2EDE4"/>
                </a:solidFill>
                <a:latin typeface="Space Grotesk"/>
              </a:rPr>
              <a:t>The marketing form is not a clinical intake.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8A8898"/>
                </a:solidFill>
                <a:latin typeface="Inter"/>
              </a:rPr>
              <a:t>Practical guidance, not legal advice. The pattern below is what most ABA clinics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8B820"/>
                </a:solidFill>
                <a:latin typeface="Space Grotesk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2EDE4"/>
                </a:solidFill>
                <a:latin typeface="Space Grotesk"/>
              </a:rPr>
              <a:t>Collect only routing info.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898"/>
                </a:solidFill>
                <a:latin typeface="Inter"/>
              </a:rPr>
              <a:t>Name, email, phone, and a service interest dropdown. No free-text medical history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8B820"/>
                </a:solidFill>
                <a:latin typeface="Space Grotesk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2EDE4"/>
                </a:solidFill>
                <a:latin typeface="Space Grotesk"/>
              </a:rPr>
              <a:t>Tell parents not to share PHI.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898"/>
                </a:solidFill>
                <a:latin typeface="Inter"/>
              </a:rPr>
              <a:t>A visible note above the submit button steers them to a secure channel for diagnosis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8B820"/>
                </a:solidFill>
                <a:latin typeface="Space Grotesk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2EDE4"/>
                </a:solidFill>
                <a:latin typeface="Space Grotesk"/>
              </a:rPr>
              <a:t>Route real intake through a HIPAA-eligible channel.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902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898"/>
                </a:solidFill>
                <a:latin typeface="Inter"/>
              </a:rPr>
              <a:t>EHR patient portal, or a form provider that signs a Business Associate Agreement.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E8B820"/>
                </a:solidFill>
                <a:latin typeface="Space Grotesk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66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2EDE4"/>
                </a:solidFill>
                <a:latin typeface="Space Grotesk"/>
              </a:rPr>
              <a:t>Treat the marketing site as marketing.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55040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898"/>
                </a:solidFill>
                <a:latin typeface="Inter"/>
              </a:rPr>
              <a:t>Fast, accessible, and low scope. The clinical work lives where it is regulated to live.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898"/>
                </a:solidFill>
                <a:latin typeface="JetBrains Mono"/>
              </a:rPr>
              <a:t>MICHAEL WEGTER  /  PROPOSAL  /  ABA SERVICES 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8898"/>
                </a:solidFill>
                <a:latin typeface="JetBrains Mono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FRAMEWORKS AND RECENT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F2EDE4"/>
                </a:solidFill>
                <a:latin typeface="Space Grotesk"/>
              </a:rPr>
              <a:t>Senior full-stack, </a:t>
            </a:r>
            <a:r>
              <a:rPr lang="en-US" sz="3000" b="1" dirty="0">
                <a:solidFill>
                  <a:srgbClr val="F2EDE4"/>
                </a:solidFill>
                <a:latin typeface="Space Grotesk"/>
              </a:rPr>
              <a:t>4</a:t>
            </a:r>
            <a:r>
              <a:rPr sz="3000" b="1" dirty="0">
                <a:solidFill>
                  <a:srgbClr val="F2EDE4"/>
                </a:solidFill>
                <a:latin typeface="Space Grotesk"/>
              </a:rPr>
              <a:t> years shipping real software.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4206240"/>
          </a:xfrm>
          <a:prstGeom prst="rect">
            <a:avLst/>
          </a:prstGeom>
          <a:solidFill>
            <a:srgbClr val="1E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FRAMEWORKS I WORK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2EDE4"/>
                </a:solidFill>
                <a:latin typeface="Space Grotesk"/>
              </a:rPr>
              <a:t>Daily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B820"/>
                </a:solidFill>
                <a:latin typeface="JetBrains Mono"/>
              </a:rPr>
              <a:t>FRONT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19" y="3200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React, Vite, Angular, vanilla JS,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6732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B820"/>
                </a:solidFill>
                <a:latin typeface="JetBrains Mono"/>
              </a:rPr>
              <a:t>BACK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19" y="37673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Flask, Python, .NET / C#, 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3425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B820"/>
                </a:solidFill>
                <a:latin typeface="JetBrains Mono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433425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PostgreSQL, SQL Server,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0118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B820"/>
                </a:solidFill>
                <a:latin typeface="JetBrains Mono"/>
              </a:rPr>
              <a:t>SHIP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19" y="490118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2EDE4"/>
                </a:solidFill>
                <a:latin typeface="Inter"/>
              </a:rPr>
              <a:t>Docker, GitHub Actions, Azure, Playwright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59552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898"/>
                </a:solidFill>
                <a:latin typeface="Inter"/>
              </a:rPr>
              <a:t>This demo: plain HTML, CSS, and JS, shipped same-origin from my portfolio.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5486400" cy="4206240"/>
          </a:xfrm>
          <a:prstGeom prst="rect">
            <a:avLst/>
          </a:prstGeom>
          <a:solidFill>
            <a:srgbClr val="1E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RECENT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2EDE4"/>
                </a:solidFill>
                <a:latin typeface="Space Grotesk"/>
              </a:rPr>
              <a:t>Real systems, in 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004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EDE4"/>
                </a:solidFill>
                <a:latin typeface="Space Grotesk"/>
              </a:rPr>
              <a:t>Optum RHRP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2044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898"/>
                </a:solidFill>
                <a:latin typeface="Inter"/>
              </a:rPr>
              <a:t>Current contract. Angular plus .NET. 150+ story points delivered. Team's go-to for AI-assisted development.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EDE4"/>
                </a:solidFill>
                <a:latin typeface="Space Grotesk"/>
              </a:rPr>
              <a:t>U.S. Bank TDAAS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8056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898"/>
                </a:solidFill>
                <a:latin typeface="Inter"/>
              </a:rPr>
              <a:t>2.5 years sole developer and SME. React plus Python plus SQL, 60k LOC, 600 users a month. Led six month Azure migration.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1206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2EDE4"/>
                </a:solidFill>
                <a:latin typeface="Space Grotesk"/>
              </a:rPr>
              <a:t>michaelwegter.com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44068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8898"/>
                </a:solidFill>
                <a:latin typeface="Inter"/>
              </a:rPr>
              <a:t>Personal apps and work samples gallery. Bright Path ABA mock was built for this posting.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898"/>
                </a:solidFill>
                <a:latin typeface="JetBrains Mono"/>
              </a:rPr>
              <a:t>MICHAEL WEGTER  /  PROPOSAL  /  ABA SERVICES 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8898"/>
                </a:solidFill>
                <a:latin typeface="JetBrains Mono"/>
              </a:rPr>
              <a:t>06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KICKOFF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2EDE4"/>
                </a:solidFill>
                <a:latin typeface="Space Grotesk"/>
              </a:rPr>
              <a:t>Three things I would ask on a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47120" cy="1280160"/>
          </a:xfrm>
          <a:prstGeom prst="rect">
            <a:avLst/>
          </a:prstGeom>
          <a:solidFill>
            <a:srgbClr val="1E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E8B820"/>
                </a:solidFill>
                <a:latin typeface="Space Grotes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2EDE4"/>
                </a:solidFill>
                <a:latin typeface="Space Grotesk"/>
              </a:rPr>
              <a:t>Page count and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6888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898"/>
                </a:solidFill>
                <a:latin typeface="Inter"/>
              </a:rPr>
              <a:t>Single scrolling page or a 5 to 7 page site? My recommendation is the latter; the demo shows the single-page version for speed.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11247120" cy="1280160"/>
          </a:xfrm>
          <a:prstGeom prst="rect">
            <a:avLst/>
          </a:prstGeom>
          <a:solidFill>
            <a:srgbClr val="1E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E8B820"/>
                </a:solidFill>
                <a:latin typeface="Space Grotes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7472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2EDE4"/>
                </a:solidFill>
                <a:latin typeface="Space Grotesk"/>
              </a:rPr>
              <a:t>CMS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898"/>
                </a:solidFill>
                <a:latin typeface="Inter"/>
              </a:rPr>
              <a:t>Do you want to edit copy yourselves after launch? If yes, I would add a small headless CMS. If not, a static build is cheaper to maintain.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09160"/>
            <a:ext cx="11247120" cy="1280160"/>
          </a:xfrm>
          <a:prstGeom prst="rect">
            <a:avLst/>
          </a:prstGeom>
          <a:solidFill>
            <a:srgbClr val="1E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E8B820"/>
                </a:solidFill>
                <a:latin typeface="Space Grotes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3776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2EDE4"/>
                </a:solidFill>
                <a:latin typeface="Space Grotesk"/>
              </a:rPr>
              <a:t>Brand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949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8A8898"/>
                </a:solidFill>
                <a:latin typeface="Inter"/>
              </a:rPr>
              <a:t>Do you have a logo, color direction, or photography? If not, I can propose a small visual direction before I build.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898"/>
                </a:solidFill>
                <a:latin typeface="JetBrains Mono"/>
              </a:rPr>
              <a:t>MICHAEL WEGTER  /  PROPOSAL  /  ABA SERVICES WEBSITE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8898"/>
                </a:solidFill>
                <a:latin typeface="JetBrains Mono"/>
              </a:rPr>
              <a:t>07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EDE4"/>
                </a:solidFill>
                <a:latin typeface="Space Grotesk"/>
              </a:rPr>
              <a:t>Michael Wegter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B820"/>
                </a:solidFill>
                <a:latin typeface="JetBrains Mono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2EDE4"/>
                </a:solidFill>
                <a:latin typeface="Space Grotesk"/>
              </a:rPr>
              <a:t>Open the demo,</a:t>
            </a:r>
          </a:p>
          <a:p>
            <a:pPr algn="l"/>
            <a:r>
              <a:rPr sz="5800" b="1">
                <a:solidFill>
                  <a:srgbClr val="F2EDE4"/>
                </a:solidFill>
                <a:latin typeface="Space Grotesk"/>
              </a:rPr>
              <a:t>then let's talk.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17720"/>
            <a:ext cx="731520" cy="381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B4C8"/>
                </a:solidFill>
                <a:latin typeface="JetBrains Mono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8B820"/>
                </a:solidFill>
                <a:latin typeface="Space Grotesk"/>
              </a:rPr>
              <a:t>https://michaelwegter.com/work-samples/aba-services-website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B4C8"/>
                </a:solidFill>
                <a:latin typeface="JetBrains Mono"/>
              </a:rPr>
              <a:t>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2EDE4"/>
                </a:solidFill>
                <a:latin typeface="Space Grotesk"/>
              </a:rPr>
              <a:t>michaelwegter.com  /  Michael Wegter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8A8898"/>
                </a:solidFill>
                <a:latin typeface="JetBrains Mono"/>
              </a:rPr>
              <a:t>MICHAEL WEGTER  /  PROPOSAL  /  ABA SERVICES WEBSITE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8A8898"/>
                </a:solidFill>
                <a:latin typeface="JetBrains Mono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689</Words>
  <Application>Microsoft Macintosh PowerPoint</Application>
  <PresentationFormat>Widescreen</PresentationFormat>
  <Paragraphs>109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Wegter</cp:lastModifiedBy>
  <cp:revision>2</cp:revision>
  <dcterms:created xsi:type="dcterms:W3CDTF">2013-01-27T09:14:16Z</dcterms:created>
  <dcterms:modified xsi:type="dcterms:W3CDTF">2026-06-10T20:54:52Z</dcterms:modified>
  <cp:category/>
</cp:coreProperties>
</file>